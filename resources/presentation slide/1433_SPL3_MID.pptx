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Merriweather Sans"/>
      <p:regular r:id="rId40"/>
      <p:bold r:id="rId41"/>
      <p:italic r:id="rId42"/>
      <p:boldItalic r:id="rId43"/>
    </p:embeddedFont>
    <p:embeddedFont>
      <p:font typeface="Monda"/>
      <p:regular r:id="rId44"/>
      <p:bold r:id="rId45"/>
    </p:embeddedFont>
    <p:embeddedFont>
      <p:font typeface="Quattrocento Sans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gZGI4iaFABG5s1aYsLaQ/ACRUJ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Sans-regular.fntdata"/><Relationship Id="rId42" Type="http://schemas.openxmlformats.org/officeDocument/2006/relationships/font" Target="fonts/MerriweatherSans-italic.fntdata"/><Relationship Id="rId41" Type="http://schemas.openxmlformats.org/officeDocument/2006/relationships/font" Target="fonts/MerriweatherSans-bold.fntdata"/><Relationship Id="rId44" Type="http://schemas.openxmlformats.org/officeDocument/2006/relationships/font" Target="fonts/Monda-regular.fntdata"/><Relationship Id="rId43" Type="http://schemas.openxmlformats.org/officeDocument/2006/relationships/font" Target="fonts/MerriweatherSans-boldItalic.fntdata"/><Relationship Id="rId46" Type="http://schemas.openxmlformats.org/officeDocument/2006/relationships/font" Target="fonts/QuattrocentoSans-regular.fntdata"/><Relationship Id="rId45" Type="http://schemas.openxmlformats.org/officeDocument/2006/relationships/font" Target="fonts/Mond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QuattrocentoSans-italic.fntdata"/><Relationship Id="rId47" Type="http://schemas.openxmlformats.org/officeDocument/2006/relationships/font" Target="fonts/QuattrocentoSans-bold.fntdata"/><Relationship Id="rId49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SemiBold-bold.fntdata"/><Relationship Id="rId50" Type="http://schemas.openxmlformats.org/officeDocument/2006/relationships/font" Target="fonts/PoppinsSemiBold-regular.fntdata"/><Relationship Id="rId53" Type="http://schemas.openxmlformats.org/officeDocument/2006/relationships/font" Target="fonts/PoppinsSemiBold-boldItalic.fntdata"/><Relationship Id="rId52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22ba911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f622ba911e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22ba911e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f622ba911e_2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22ba911e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622ba911e_2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22ba911e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f622ba911e_2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622ba9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622ba91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0d23bd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f60d23bd3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60d23bd3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f60d23bd3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60d23bd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60d23bd31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0d23bd3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f60d23bd3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0d23bd3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f60d23bd31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60d23bd3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f60d23bd31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60d23bd3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f60d23bd31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60d23bd3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f60d23bd31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60d23bd3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f60d23bd31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0d23bd3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f60d23bd31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60d23bd3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f60d23bd31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60d23bd3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f60d23bd31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60d23bd3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f60d23bd31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60d23bd3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f60d23bd31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60d23bd3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f60d23bd31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60d23bd3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f60d23bd31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60d23bd3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3f60d23bd31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62804494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g3f62804494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622ba911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f622ba911e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622ba911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3f622ba911e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622ba911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f622ba911e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622ba911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g3f622ba911e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622ba911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f622ba911e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622ba911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3f622ba911e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62804494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5" name="Google Shape;515;g3f62804494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62804494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g3f62804494f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622ba911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3f622ba911e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623872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g3f623872e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hyperlink" Target="https://canva.link/asqagj83zbyf47b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800000">
            <a:off x="14645974" y="704269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 rotWithShape="1">
            <a:blip r:embed="rId4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10800000">
            <a:off x="-501257" y="704269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 rotWithShape="1">
            <a:blip r:embed="rId5">
              <a:alphaModFix amt="6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914550" y="2000250"/>
            <a:ext cx="13814793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sng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AutoRestTest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 AI-Powered Platform for Automated REST API 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289388" y="8453667"/>
            <a:ext cx="7709225" cy="64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Supervised by: Toukir Ahammed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738401" y="6276887"/>
            <a:ext cx="8260211" cy="145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Mohammad Ismail Hossain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BSSE 1433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Overview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622ba911e_4_0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622ba911e_4_0"/>
          <p:cNvSpPr txBox="1"/>
          <p:nvPr/>
        </p:nvSpPr>
        <p:spPr>
          <a:xfrm>
            <a:off x="1851440" y="1793399"/>
            <a:ext cx="1353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575" spcFirstLastPara="1" rIns="3657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An AI-powered web platform that turns an OpenAPI specification into a complete, automatically generated and executed REST API test suite.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35D6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02" name="Google Shape;102;g3f622ba911e_4_0"/>
          <p:cNvSpPr txBox="1"/>
          <p:nvPr/>
        </p:nvSpPr>
        <p:spPr>
          <a:xfrm>
            <a:off x="1371400" y="3103805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HOW IT WORKS</a:t>
            </a:r>
            <a:endParaRPr/>
          </a:p>
        </p:txBody>
      </p:sp>
      <p:sp>
        <p:nvSpPr>
          <p:cNvPr id="103" name="Google Shape;103;g3f622ba911e_4_0"/>
          <p:cNvSpPr/>
          <p:nvPr/>
        </p:nvSpPr>
        <p:spPr>
          <a:xfrm>
            <a:off x="932800" y="3479317"/>
            <a:ext cx="4846200" cy="2286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622ba911e_4_0"/>
          <p:cNvSpPr/>
          <p:nvPr/>
        </p:nvSpPr>
        <p:spPr>
          <a:xfrm>
            <a:off x="1280160" y="3685032"/>
            <a:ext cx="749700" cy="749700"/>
          </a:xfrm>
          <a:prstGeom prst="ellipse">
            <a:avLst/>
          </a:prstGeom>
          <a:solidFill>
            <a:srgbClr val="2F6F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</a:t>
            </a:r>
            <a:endParaRPr/>
          </a:p>
        </p:txBody>
      </p:sp>
      <p:sp>
        <p:nvSpPr>
          <p:cNvPr id="105" name="Google Shape;105;g3f622ba911e_4_0"/>
          <p:cNvSpPr/>
          <p:nvPr/>
        </p:nvSpPr>
        <p:spPr>
          <a:xfrm>
            <a:off x="4709160" y="3749040"/>
            <a:ext cx="640080" cy="64008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F6F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/>
          </a:p>
        </p:txBody>
      </p:sp>
      <p:sp>
        <p:nvSpPr>
          <p:cNvPr id="106" name="Google Shape;106;g3f622ba911e_4_0"/>
          <p:cNvSpPr txBox="1"/>
          <p:nvPr/>
        </p:nvSpPr>
        <p:spPr>
          <a:xfrm>
            <a:off x="129844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Upload API Spec</a:t>
            </a:r>
            <a:endParaRPr sz="2400"/>
          </a:p>
        </p:txBody>
      </p:sp>
      <p:sp>
        <p:nvSpPr>
          <p:cNvPr id="107" name="Google Shape;107;g3f622ba911e_4_0"/>
          <p:cNvSpPr txBox="1"/>
          <p:nvPr/>
        </p:nvSpPr>
        <p:spPr>
          <a:xfrm>
            <a:off x="129844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 an OpenAPI 3.0 file to define the target API.</a:t>
            </a:r>
            <a:endParaRPr sz="1800"/>
          </a:p>
        </p:txBody>
      </p:sp>
      <p:sp>
        <p:nvSpPr>
          <p:cNvPr id="108" name="Google Shape;108;g3f622ba911e_4_0"/>
          <p:cNvSpPr/>
          <p:nvPr/>
        </p:nvSpPr>
        <p:spPr>
          <a:xfrm>
            <a:off x="6857975" y="3589000"/>
            <a:ext cx="4718100" cy="2176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622ba911e_4_0"/>
          <p:cNvSpPr/>
          <p:nvPr/>
        </p:nvSpPr>
        <p:spPr>
          <a:xfrm>
            <a:off x="7086600" y="3685032"/>
            <a:ext cx="749808" cy="749808"/>
          </a:xfrm>
          <a:prstGeom prst="ellipse">
            <a:avLst/>
          </a:prstGeom>
          <a:solidFill>
            <a:srgbClr val="D96B1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/>
          </a:p>
        </p:txBody>
      </p:sp>
      <p:sp>
        <p:nvSpPr>
          <p:cNvPr id="110" name="Google Shape;110;g3f622ba911e_4_0"/>
          <p:cNvSpPr/>
          <p:nvPr/>
        </p:nvSpPr>
        <p:spPr>
          <a:xfrm>
            <a:off x="10515599" y="3749040"/>
            <a:ext cx="640080" cy="64008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D96B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/>
          </a:p>
        </p:txBody>
      </p:sp>
      <p:sp>
        <p:nvSpPr>
          <p:cNvPr id="111" name="Google Shape;111;g3f622ba911e_4_0"/>
          <p:cNvSpPr txBox="1"/>
          <p:nvPr/>
        </p:nvSpPr>
        <p:spPr>
          <a:xfrm>
            <a:off x="710488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 Generates &amp; Runs Tests</a:t>
            </a:r>
            <a:endParaRPr sz="2400"/>
          </a:p>
        </p:txBody>
      </p:sp>
      <p:sp>
        <p:nvSpPr>
          <p:cNvPr id="112" name="Google Shape;112;g3f622ba911e_4_0"/>
          <p:cNvSpPr txBox="1"/>
          <p:nvPr/>
        </p:nvSpPr>
        <p:spPr>
          <a:xfrm>
            <a:off x="710488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Cooperating AI agents explore the API and adapt from every response.</a:t>
            </a:r>
            <a:endParaRPr sz="1800"/>
          </a:p>
        </p:txBody>
      </p:sp>
      <p:sp>
        <p:nvSpPr>
          <p:cNvPr id="113" name="Google Shape;113;g3f622ba911e_4_0"/>
          <p:cNvSpPr/>
          <p:nvPr/>
        </p:nvSpPr>
        <p:spPr>
          <a:xfrm>
            <a:off x="12536555" y="3662205"/>
            <a:ext cx="4846200" cy="2286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622ba911e_4_0"/>
          <p:cNvSpPr/>
          <p:nvPr/>
        </p:nvSpPr>
        <p:spPr>
          <a:xfrm>
            <a:off x="12893040" y="3685032"/>
            <a:ext cx="749808" cy="749808"/>
          </a:xfrm>
          <a:prstGeom prst="ellipse">
            <a:avLst/>
          </a:prstGeom>
          <a:solidFill>
            <a:srgbClr val="5E8C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endParaRPr/>
          </a:p>
        </p:txBody>
      </p:sp>
      <p:sp>
        <p:nvSpPr>
          <p:cNvPr id="115" name="Google Shape;115;g3f622ba911e_4_0"/>
          <p:cNvSpPr/>
          <p:nvPr/>
        </p:nvSpPr>
        <p:spPr>
          <a:xfrm>
            <a:off x="16322040" y="3749040"/>
            <a:ext cx="640080" cy="640080"/>
          </a:xfrm>
          <a:prstGeom prst="ellipse">
            <a:avLst/>
          </a:prstGeom>
          <a:solidFill>
            <a:srgbClr val="ECF3D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E8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16" name="Google Shape;116;g3f622ba911e_4_0"/>
          <p:cNvSpPr txBox="1"/>
          <p:nvPr/>
        </p:nvSpPr>
        <p:spPr>
          <a:xfrm>
            <a:off x="1291132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Get Actionable Reports</a:t>
            </a:r>
            <a:endParaRPr sz="2400"/>
          </a:p>
        </p:txBody>
      </p:sp>
      <p:sp>
        <p:nvSpPr>
          <p:cNvPr id="117" name="Google Shape;117;g3f622ba911e_4_0"/>
          <p:cNvSpPr txBox="1"/>
          <p:nvPr/>
        </p:nvSpPr>
        <p:spPr>
          <a:xfrm>
            <a:off x="1291132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Coverage, status-code breakdown, and detected server errors.</a:t>
            </a:r>
            <a:endParaRPr sz="1800"/>
          </a:p>
        </p:txBody>
      </p:sp>
      <p:sp>
        <p:nvSpPr>
          <p:cNvPr id="118" name="Google Shape;118;g3f622ba911e_4_0"/>
          <p:cNvSpPr/>
          <p:nvPr/>
        </p:nvSpPr>
        <p:spPr>
          <a:xfrm>
            <a:off x="5920740" y="4306824"/>
            <a:ext cx="658368" cy="420624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C3CC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622ba911e_4_0"/>
          <p:cNvSpPr/>
          <p:nvPr/>
        </p:nvSpPr>
        <p:spPr>
          <a:xfrm>
            <a:off x="11727180" y="4306824"/>
            <a:ext cx="658368" cy="420624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C3CC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622ba911e_4_0"/>
          <p:cNvSpPr txBox="1"/>
          <p:nvPr/>
        </p:nvSpPr>
        <p:spPr>
          <a:xfrm>
            <a:off x="1371400" y="6044573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POWERED BY</a:t>
            </a:r>
            <a:endParaRPr/>
          </a:p>
        </p:txBody>
      </p:sp>
      <p:sp>
        <p:nvSpPr>
          <p:cNvPr id="121" name="Google Shape;121;g3f622ba911e_4_0"/>
          <p:cNvSpPr/>
          <p:nvPr/>
        </p:nvSpPr>
        <p:spPr>
          <a:xfrm>
            <a:off x="914400" y="6560149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622ba911e_4_0"/>
          <p:cNvSpPr/>
          <p:nvPr/>
        </p:nvSpPr>
        <p:spPr>
          <a:xfrm>
            <a:off x="1207008" y="6889342"/>
            <a:ext cx="914400" cy="91440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F6F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/>
          </a:p>
        </p:txBody>
      </p:sp>
      <p:sp>
        <p:nvSpPr>
          <p:cNvPr id="123" name="Google Shape;123;g3f622ba911e_4_0"/>
          <p:cNvSpPr txBox="1"/>
          <p:nvPr/>
        </p:nvSpPr>
        <p:spPr>
          <a:xfrm>
            <a:off x="2286000" y="6871054"/>
            <a:ext cx="32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Multi-Agent RL</a:t>
            </a:r>
            <a:endParaRPr sz="2400"/>
          </a:p>
        </p:txBody>
      </p:sp>
      <p:sp>
        <p:nvSpPr>
          <p:cNvPr id="124" name="Google Shape;124;g3f622ba911e_4_0"/>
          <p:cNvSpPr txBox="1"/>
          <p:nvPr/>
        </p:nvSpPr>
        <p:spPr>
          <a:xfrm>
            <a:off x="2286000" y="73831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Agents learn the optimal testing strategy.</a:t>
            </a:r>
            <a:endParaRPr sz="1800"/>
          </a:p>
        </p:txBody>
      </p:sp>
      <p:sp>
        <p:nvSpPr>
          <p:cNvPr id="125" name="Google Shape;125;g3f622ba911e_4_0"/>
          <p:cNvSpPr/>
          <p:nvPr/>
        </p:nvSpPr>
        <p:spPr>
          <a:xfrm>
            <a:off x="6720700" y="6560150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622ba911e_4_0"/>
          <p:cNvSpPr/>
          <p:nvPr/>
        </p:nvSpPr>
        <p:spPr>
          <a:xfrm>
            <a:off x="7013448" y="6889342"/>
            <a:ext cx="914400" cy="91440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9A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🔗</a:t>
            </a:r>
            <a:endParaRPr/>
          </a:p>
        </p:txBody>
      </p:sp>
      <p:sp>
        <p:nvSpPr>
          <p:cNvPr id="127" name="Google Shape;127;g3f622ba911e_4_0"/>
          <p:cNvSpPr txBox="1"/>
          <p:nvPr/>
        </p:nvSpPr>
        <p:spPr>
          <a:xfrm>
            <a:off x="8092451" y="6871051"/>
            <a:ext cx="34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Semantic Dependency Graph</a:t>
            </a:r>
            <a:endParaRPr sz="2400"/>
          </a:p>
        </p:txBody>
      </p:sp>
      <p:sp>
        <p:nvSpPr>
          <p:cNvPr id="128" name="Google Shape;128;g3f622ba911e_4_0"/>
          <p:cNvSpPr txBox="1"/>
          <p:nvPr/>
        </p:nvSpPr>
        <p:spPr>
          <a:xfrm>
            <a:off x="8092490" y="76047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Discovers links between API operations.</a:t>
            </a:r>
            <a:endParaRPr sz="1800"/>
          </a:p>
        </p:txBody>
      </p:sp>
      <p:sp>
        <p:nvSpPr>
          <p:cNvPr id="129" name="Google Shape;129;g3f622ba911e_4_0"/>
          <p:cNvSpPr/>
          <p:nvPr/>
        </p:nvSpPr>
        <p:spPr>
          <a:xfrm>
            <a:off x="12527400" y="6560149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622ba911e_4_0"/>
          <p:cNvSpPr/>
          <p:nvPr/>
        </p:nvSpPr>
        <p:spPr>
          <a:xfrm>
            <a:off x="12819888" y="6889342"/>
            <a:ext cx="914400" cy="91440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7453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/>
          </a:p>
        </p:txBody>
      </p:sp>
      <p:sp>
        <p:nvSpPr>
          <p:cNvPr id="131" name="Google Shape;131;g3f622ba911e_4_0"/>
          <p:cNvSpPr txBox="1"/>
          <p:nvPr/>
        </p:nvSpPr>
        <p:spPr>
          <a:xfrm>
            <a:off x="13898880" y="6871054"/>
            <a:ext cx="32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LLM-Driven Inputs</a:t>
            </a:r>
            <a:endParaRPr sz="2400"/>
          </a:p>
        </p:txBody>
      </p:sp>
      <p:sp>
        <p:nvSpPr>
          <p:cNvPr id="132" name="Google Shape;132;g3f622ba911e_4_0"/>
          <p:cNvSpPr txBox="1"/>
          <p:nvPr/>
        </p:nvSpPr>
        <p:spPr>
          <a:xfrm>
            <a:off x="13898880" y="73831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Generates realistic, schema-valid values.</a:t>
            </a:r>
            <a:endParaRPr sz="1800"/>
          </a:p>
        </p:txBody>
      </p:sp>
      <p:sp>
        <p:nvSpPr>
          <p:cNvPr id="133" name="Google Shape;133;g3f622ba911e_4_0"/>
          <p:cNvSpPr txBox="1"/>
          <p:nvPr/>
        </p:nvSpPr>
        <p:spPr>
          <a:xfrm>
            <a:off x="1371600" y="8686758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BUILT WITH</a:t>
            </a:r>
            <a:endParaRPr/>
          </a:p>
        </p:txBody>
      </p:sp>
      <p:sp>
        <p:nvSpPr>
          <p:cNvPr id="134" name="Google Shape;134;g3f622ba911e_4_0"/>
          <p:cNvSpPr/>
          <p:nvPr/>
        </p:nvSpPr>
        <p:spPr>
          <a:xfrm>
            <a:off x="2761488" y="9015942"/>
            <a:ext cx="19386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Next.js</a:t>
            </a:r>
            <a:endParaRPr sz="1800"/>
          </a:p>
        </p:txBody>
      </p:sp>
      <p:sp>
        <p:nvSpPr>
          <p:cNvPr id="135" name="Google Shape;135;g3f622ba911e_4_0"/>
          <p:cNvSpPr/>
          <p:nvPr/>
        </p:nvSpPr>
        <p:spPr>
          <a:xfrm>
            <a:off x="5065776" y="9015942"/>
            <a:ext cx="17922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NestJS</a:t>
            </a:r>
            <a:endParaRPr sz="1800"/>
          </a:p>
        </p:txBody>
      </p:sp>
      <p:sp>
        <p:nvSpPr>
          <p:cNvPr id="136" name="Google Shape;136;g3f622ba911e_4_0"/>
          <p:cNvSpPr/>
          <p:nvPr/>
        </p:nvSpPr>
        <p:spPr>
          <a:xfrm>
            <a:off x="7223760" y="9015942"/>
            <a:ext cx="23775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PostgreSQL</a:t>
            </a:r>
            <a:endParaRPr sz="1800"/>
          </a:p>
        </p:txBody>
      </p:sp>
      <p:sp>
        <p:nvSpPr>
          <p:cNvPr id="137" name="Google Shape;137;g3f622ba911e_4_0"/>
          <p:cNvSpPr/>
          <p:nvPr/>
        </p:nvSpPr>
        <p:spPr>
          <a:xfrm>
            <a:off x="9966960" y="9015942"/>
            <a:ext cx="28164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Python</a:t>
            </a:r>
            <a:endParaRPr sz="1800"/>
          </a:p>
        </p:txBody>
      </p:sp>
      <p:sp>
        <p:nvSpPr>
          <p:cNvPr id="138" name="Google Shape;138;g3f622ba911e_4_0"/>
          <p:cNvSpPr/>
          <p:nvPr/>
        </p:nvSpPr>
        <p:spPr>
          <a:xfrm>
            <a:off x="13149072" y="9015942"/>
            <a:ext cx="23775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MARL + LLM</a:t>
            </a:r>
            <a:endParaRPr sz="1800"/>
          </a:p>
        </p:txBody>
      </p:sp>
      <p:sp>
        <p:nvSpPr>
          <p:cNvPr id="139" name="Google Shape;139;g3f622ba911e_4_0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22ba911e_2_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145" name="Google Shape;145;g3f622ba911e_2_3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g3f622ba911e_2_3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g3f622ba911e_2_34"/>
          <p:cNvSpPr txBox="1"/>
          <p:nvPr/>
        </p:nvSpPr>
        <p:spPr>
          <a:xfrm>
            <a:off x="-1737726" y="10303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Normal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622ba911e_2_34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622ba911e_2_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g3f622ba911e_2_34"/>
          <p:cNvSpPr/>
          <p:nvPr/>
        </p:nvSpPr>
        <p:spPr>
          <a:xfrm>
            <a:off x="91440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622ba911e_2_34"/>
          <p:cNvSpPr/>
          <p:nvPr/>
        </p:nvSpPr>
        <p:spPr>
          <a:xfrm>
            <a:off x="1280160" y="2788920"/>
            <a:ext cx="777240" cy="77724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/>
          </a:p>
        </p:txBody>
      </p:sp>
      <p:sp>
        <p:nvSpPr>
          <p:cNvPr id="152" name="Google Shape;152;g3f622ba911e_2_34"/>
          <p:cNvSpPr txBox="1"/>
          <p:nvPr/>
        </p:nvSpPr>
        <p:spPr>
          <a:xfrm>
            <a:off x="128016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User Authentication</a:t>
            </a:r>
            <a:endParaRPr sz="3000"/>
          </a:p>
        </p:txBody>
      </p:sp>
      <p:sp>
        <p:nvSpPr>
          <p:cNvPr id="153" name="Google Shape;153;g3f622ba911e_2_34"/>
          <p:cNvSpPr txBox="1"/>
          <p:nvPr/>
        </p:nvSpPr>
        <p:spPr>
          <a:xfrm>
            <a:off x="128016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Secure sign-up, login, and role-based access.</a:t>
            </a:r>
            <a:endParaRPr sz="1800"/>
          </a:p>
        </p:txBody>
      </p:sp>
      <p:sp>
        <p:nvSpPr>
          <p:cNvPr id="154" name="Google Shape;154;g3f622ba911e_2_34"/>
          <p:cNvSpPr/>
          <p:nvPr/>
        </p:nvSpPr>
        <p:spPr>
          <a:xfrm>
            <a:off x="658368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622ba911e_2_34"/>
          <p:cNvSpPr/>
          <p:nvPr/>
        </p:nvSpPr>
        <p:spPr>
          <a:xfrm>
            <a:off x="6949440" y="2788920"/>
            <a:ext cx="777240" cy="77724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BAC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/>
          </a:p>
        </p:txBody>
      </p:sp>
      <p:sp>
        <p:nvSpPr>
          <p:cNvPr id="156" name="Google Shape;156;g3f622ba911e_2_34"/>
          <p:cNvSpPr txBox="1"/>
          <p:nvPr/>
        </p:nvSpPr>
        <p:spPr>
          <a:xfrm>
            <a:off x="694944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Management</a:t>
            </a:r>
            <a:endParaRPr sz="3000"/>
          </a:p>
        </p:txBody>
      </p:sp>
      <p:sp>
        <p:nvSpPr>
          <p:cNvPr id="157" name="Google Shape;157;g3f622ba911e_2_34"/>
          <p:cNvSpPr txBox="1"/>
          <p:nvPr/>
        </p:nvSpPr>
        <p:spPr>
          <a:xfrm>
            <a:off x="694944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Create and organize API testing projects.</a:t>
            </a:r>
            <a:endParaRPr sz="1800"/>
          </a:p>
        </p:txBody>
      </p:sp>
      <p:sp>
        <p:nvSpPr>
          <p:cNvPr id="158" name="Google Shape;158;g3f622ba911e_2_34"/>
          <p:cNvSpPr/>
          <p:nvPr/>
        </p:nvSpPr>
        <p:spPr>
          <a:xfrm>
            <a:off x="1225296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622ba911e_2_34"/>
          <p:cNvSpPr/>
          <p:nvPr/>
        </p:nvSpPr>
        <p:spPr>
          <a:xfrm>
            <a:off x="12618720" y="2788920"/>
            <a:ext cx="777240" cy="777240"/>
          </a:xfrm>
          <a:prstGeom prst="ellipse">
            <a:avLst/>
          </a:prstGeom>
          <a:solidFill>
            <a:srgbClr val="EEF3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7A9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/>
          </a:p>
        </p:txBody>
      </p:sp>
      <p:sp>
        <p:nvSpPr>
          <p:cNvPr id="160" name="Google Shape;160;g3f622ba911e_2_34"/>
          <p:cNvSpPr txBox="1"/>
          <p:nvPr/>
        </p:nvSpPr>
        <p:spPr>
          <a:xfrm>
            <a:off x="1261872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Specification Upload</a:t>
            </a:r>
            <a:endParaRPr sz="3000"/>
          </a:p>
        </p:txBody>
      </p:sp>
      <p:sp>
        <p:nvSpPr>
          <p:cNvPr id="161" name="Google Shape;161;g3f622ba911e_2_34"/>
          <p:cNvSpPr txBox="1"/>
          <p:nvPr/>
        </p:nvSpPr>
        <p:spPr>
          <a:xfrm>
            <a:off x="1261872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 an OpenAPI 3.0 spec to define the API.</a:t>
            </a:r>
            <a:endParaRPr sz="1800"/>
          </a:p>
        </p:txBody>
      </p:sp>
      <p:sp>
        <p:nvSpPr>
          <p:cNvPr id="162" name="Google Shape;162;g3f622ba911e_2_34"/>
          <p:cNvSpPr/>
          <p:nvPr/>
        </p:nvSpPr>
        <p:spPr>
          <a:xfrm>
            <a:off x="91440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622ba911e_2_34"/>
          <p:cNvSpPr/>
          <p:nvPr/>
        </p:nvSpPr>
        <p:spPr>
          <a:xfrm>
            <a:off x="1280160" y="5989320"/>
            <a:ext cx="777300" cy="77730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▶️</a:t>
            </a:r>
            <a:endParaRPr/>
          </a:p>
        </p:txBody>
      </p:sp>
      <p:sp>
        <p:nvSpPr>
          <p:cNvPr id="164" name="Google Shape;164;g3f622ba911e_2_34"/>
          <p:cNvSpPr txBox="1"/>
          <p:nvPr/>
        </p:nvSpPr>
        <p:spPr>
          <a:xfrm>
            <a:off x="128016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Test Execution</a:t>
            </a:r>
            <a:endParaRPr sz="3000"/>
          </a:p>
        </p:txBody>
      </p:sp>
      <p:sp>
        <p:nvSpPr>
          <p:cNvPr id="165" name="Google Shape;165;g3f622ba911e_2_34"/>
          <p:cNvSpPr txBox="1"/>
          <p:nvPr/>
        </p:nvSpPr>
        <p:spPr>
          <a:xfrm>
            <a:off x="128016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Run AI-generated tests against the target API.</a:t>
            </a:r>
            <a:endParaRPr sz="1800"/>
          </a:p>
        </p:txBody>
      </p:sp>
      <p:sp>
        <p:nvSpPr>
          <p:cNvPr id="166" name="Google Shape;166;g3f622ba911e_2_34"/>
          <p:cNvSpPr/>
          <p:nvPr/>
        </p:nvSpPr>
        <p:spPr>
          <a:xfrm>
            <a:off x="658368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22ba911e_2_34"/>
          <p:cNvSpPr/>
          <p:nvPr/>
        </p:nvSpPr>
        <p:spPr>
          <a:xfrm>
            <a:off x="6949440" y="5989320"/>
            <a:ext cx="777300" cy="77730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68" name="Google Shape;168;g3f622ba911e_2_34"/>
          <p:cNvSpPr txBox="1"/>
          <p:nvPr/>
        </p:nvSpPr>
        <p:spPr>
          <a:xfrm>
            <a:off x="694944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Result Viewing</a:t>
            </a:r>
            <a:endParaRPr sz="3000"/>
          </a:p>
        </p:txBody>
      </p:sp>
      <p:sp>
        <p:nvSpPr>
          <p:cNvPr id="169" name="Google Shape;169;g3f622ba911e_2_34"/>
          <p:cNvSpPr txBox="1"/>
          <p:nvPr/>
        </p:nvSpPr>
        <p:spPr>
          <a:xfrm>
            <a:off x="694944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Inspect requests, responses, and outcomes.</a:t>
            </a:r>
            <a:endParaRPr sz="1800"/>
          </a:p>
        </p:txBody>
      </p:sp>
      <p:sp>
        <p:nvSpPr>
          <p:cNvPr id="170" name="Google Shape;170;g3f622ba911e_2_34"/>
          <p:cNvSpPr/>
          <p:nvPr/>
        </p:nvSpPr>
        <p:spPr>
          <a:xfrm>
            <a:off x="1225296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622ba911e_2_34"/>
          <p:cNvSpPr/>
          <p:nvPr/>
        </p:nvSpPr>
        <p:spPr>
          <a:xfrm>
            <a:off x="12618720" y="5989320"/>
            <a:ext cx="777300" cy="777300"/>
          </a:xfrm>
          <a:prstGeom prst="ellipse">
            <a:avLst/>
          </a:prstGeom>
          <a:solidFill>
            <a:srgbClr val="F6E4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🔔</a:t>
            </a:r>
            <a:endParaRPr/>
          </a:p>
        </p:txBody>
      </p:sp>
      <p:sp>
        <p:nvSpPr>
          <p:cNvPr id="172" name="Google Shape;172;g3f622ba911e_2_34"/>
          <p:cNvSpPr txBox="1"/>
          <p:nvPr/>
        </p:nvSpPr>
        <p:spPr>
          <a:xfrm>
            <a:off x="12618725" y="6903725"/>
            <a:ext cx="46407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Completion Notifications</a:t>
            </a:r>
            <a:endParaRPr sz="3000"/>
          </a:p>
        </p:txBody>
      </p:sp>
      <p:sp>
        <p:nvSpPr>
          <p:cNvPr id="173" name="Google Shape;173;g3f622ba911e_2_34"/>
          <p:cNvSpPr txBox="1"/>
          <p:nvPr/>
        </p:nvSpPr>
        <p:spPr>
          <a:xfrm>
            <a:off x="12618845" y="7858049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Get notified when a test run finishes.</a:t>
            </a:r>
            <a:endParaRPr sz="1800"/>
          </a:p>
        </p:txBody>
      </p:sp>
      <p:sp>
        <p:nvSpPr>
          <p:cNvPr id="174" name="Google Shape;174;g3f622ba911e_2_34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22ba911e_2_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180" name="Google Shape;180;g3f622ba911e_2_68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g3f622ba911e_2_68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f622ba911e_2_68"/>
          <p:cNvSpPr txBox="1"/>
          <p:nvPr/>
        </p:nvSpPr>
        <p:spPr>
          <a:xfrm>
            <a:off x="-1189151" y="652625"/>
            <a:ext cx="13442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 Expected</a:t>
            </a:r>
            <a:r>
              <a:rPr lang="en-US" sz="5268"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sz="5268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83" name="Google Shape;183;g3f622ba911e_2_68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622ba911e_2_68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622ba911e_2_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g3f622ba911e_2_68"/>
          <p:cNvSpPr/>
          <p:nvPr/>
        </p:nvSpPr>
        <p:spPr>
          <a:xfrm>
            <a:off x="91440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622ba911e_2_68"/>
          <p:cNvSpPr/>
          <p:nvPr/>
        </p:nvSpPr>
        <p:spPr>
          <a:xfrm>
            <a:off x="1280160" y="2788920"/>
            <a:ext cx="777240" cy="77724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/>
          </a:p>
        </p:txBody>
      </p:sp>
      <p:sp>
        <p:nvSpPr>
          <p:cNvPr id="188" name="Google Shape;188;g3f622ba911e_2_68"/>
          <p:cNvSpPr txBox="1"/>
          <p:nvPr/>
        </p:nvSpPr>
        <p:spPr>
          <a:xfrm>
            <a:off x="1280160" y="370332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Automatic Suite Generation</a:t>
            </a:r>
            <a:endParaRPr sz="3000"/>
          </a:p>
        </p:txBody>
      </p:sp>
      <p:sp>
        <p:nvSpPr>
          <p:cNvPr id="189" name="Google Shape;189;g3f622ba911e_2_68"/>
          <p:cNvSpPr txBox="1"/>
          <p:nvPr/>
        </p:nvSpPr>
        <p:spPr>
          <a:xfrm>
            <a:off x="1280349" y="4620688"/>
            <a:ext cx="4754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 builds test cases directly from the spec.</a:t>
            </a:r>
            <a:endParaRPr sz="1800"/>
          </a:p>
        </p:txBody>
      </p:sp>
      <p:sp>
        <p:nvSpPr>
          <p:cNvPr id="190" name="Google Shape;190;g3f622ba911e_2_68"/>
          <p:cNvSpPr/>
          <p:nvPr/>
        </p:nvSpPr>
        <p:spPr>
          <a:xfrm>
            <a:off x="658368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622ba911e_2_68"/>
          <p:cNvSpPr/>
          <p:nvPr/>
        </p:nvSpPr>
        <p:spPr>
          <a:xfrm>
            <a:off x="6949440" y="2788920"/>
            <a:ext cx="777240" cy="77724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BAC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💾</a:t>
            </a:r>
            <a:endParaRPr/>
          </a:p>
        </p:txBody>
      </p:sp>
      <p:sp>
        <p:nvSpPr>
          <p:cNvPr id="192" name="Google Shape;192;g3f622ba911e_2_68"/>
          <p:cNvSpPr txBox="1"/>
          <p:nvPr/>
        </p:nvSpPr>
        <p:spPr>
          <a:xfrm>
            <a:off x="694944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Save &amp; Reuse Suites</a:t>
            </a:r>
            <a:endParaRPr sz="3000"/>
          </a:p>
        </p:txBody>
      </p:sp>
      <p:sp>
        <p:nvSpPr>
          <p:cNvPr id="193" name="Google Shape;193;g3f622ba911e_2_68"/>
          <p:cNvSpPr txBox="1"/>
          <p:nvPr/>
        </p:nvSpPr>
        <p:spPr>
          <a:xfrm>
            <a:off x="694944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Persist test suites to re-run them anytime.</a:t>
            </a:r>
            <a:endParaRPr sz="1800"/>
          </a:p>
        </p:txBody>
      </p:sp>
      <p:sp>
        <p:nvSpPr>
          <p:cNvPr id="194" name="Google Shape;194;g3f622ba911e_2_68"/>
          <p:cNvSpPr/>
          <p:nvPr/>
        </p:nvSpPr>
        <p:spPr>
          <a:xfrm>
            <a:off x="1225296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622ba911e_2_68"/>
          <p:cNvSpPr/>
          <p:nvPr/>
        </p:nvSpPr>
        <p:spPr>
          <a:xfrm>
            <a:off x="12618720" y="2788920"/>
            <a:ext cx="777240" cy="777240"/>
          </a:xfrm>
          <a:prstGeom prst="ellipse">
            <a:avLst/>
          </a:prstGeom>
          <a:solidFill>
            <a:srgbClr val="EEF3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7A9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🕐</a:t>
            </a:r>
            <a:endParaRPr/>
          </a:p>
        </p:txBody>
      </p:sp>
      <p:sp>
        <p:nvSpPr>
          <p:cNvPr id="196" name="Google Shape;196;g3f622ba911e_2_68"/>
          <p:cNvSpPr txBox="1"/>
          <p:nvPr/>
        </p:nvSpPr>
        <p:spPr>
          <a:xfrm>
            <a:off x="1261872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Execution History</a:t>
            </a:r>
            <a:endParaRPr sz="3000"/>
          </a:p>
        </p:txBody>
      </p:sp>
      <p:sp>
        <p:nvSpPr>
          <p:cNvPr id="197" name="Google Shape;197;g3f622ba911e_2_68"/>
          <p:cNvSpPr txBox="1"/>
          <p:nvPr/>
        </p:nvSpPr>
        <p:spPr>
          <a:xfrm>
            <a:off x="12618720" y="4306824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Track every past run for each project.</a:t>
            </a:r>
            <a:endParaRPr sz="1800"/>
          </a:p>
        </p:txBody>
      </p:sp>
      <p:sp>
        <p:nvSpPr>
          <p:cNvPr id="198" name="Google Shape;198;g3f622ba911e_2_68"/>
          <p:cNvSpPr/>
          <p:nvPr/>
        </p:nvSpPr>
        <p:spPr>
          <a:xfrm>
            <a:off x="91440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622ba911e_2_68"/>
          <p:cNvSpPr/>
          <p:nvPr/>
        </p:nvSpPr>
        <p:spPr>
          <a:xfrm>
            <a:off x="1280160" y="5989320"/>
            <a:ext cx="777240" cy="77724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200" name="Google Shape;200;g3f622ba911e_2_68"/>
          <p:cNvSpPr txBox="1"/>
          <p:nvPr/>
        </p:nvSpPr>
        <p:spPr>
          <a:xfrm>
            <a:off x="128016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Reports &amp; Analytics</a:t>
            </a:r>
            <a:endParaRPr sz="3000"/>
          </a:p>
        </p:txBody>
      </p:sp>
      <p:sp>
        <p:nvSpPr>
          <p:cNvPr id="201" name="Google Shape;201;g3f622ba911e_2_68"/>
          <p:cNvSpPr txBox="1"/>
          <p:nvPr/>
        </p:nvSpPr>
        <p:spPr>
          <a:xfrm>
            <a:off x="128016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 and status-code insights per run.</a:t>
            </a:r>
            <a:endParaRPr sz="1800"/>
          </a:p>
        </p:txBody>
      </p:sp>
      <p:sp>
        <p:nvSpPr>
          <p:cNvPr id="202" name="Google Shape;202;g3f622ba911e_2_68"/>
          <p:cNvSpPr/>
          <p:nvPr/>
        </p:nvSpPr>
        <p:spPr>
          <a:xfrm>
            <a:off x="658368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622ba911e_2_68"/>
          <p:cNvSpPr/>
          <p:nvPr/>
        </p:nvSpPr>
        <p:spPr>
          <a:xfrm>
            <a:off x="6949440" y="5989320"/>
            <a:ext cx="777240" cy="77724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⬇️</a:t>
            </a:r>
            <a:endParaRPr/>
          </a:p>
        </p:txBody>
      </p:sp>
      <p:sp>
        <p:nvSpPr>
          <p:cNvPr id="204" name="Google Shape;204;g3f622ba911e_2_68"/>
          <p:cNvSpPr txBox="1"/>
          <p:nvPr/>
        </p:nvSpPr>
        <p:spPr>
          <a:xfrm>
            <a:off x="694944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Export Reports</a:t>
            </a:r>
            <a:endParaRPr sz="3000"/>
          </a:p>
        </p:txBody>
      </p:sp>
      <p:sp>
        <p:nvSpPr>
          <p:cNvPr id="205" name="Google Shape;205;g3f622ba911e_2_68"/>
          <p:cNvSpPr txBox="1"/>
          <p:nvPr/>
        </p:nvSpPr>
        <p:spPr>
          <a:xfrm>
            <a:off x="6949440" y="7507224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Download results as a shareable PDF.</a:t>
            </a:r>
            <a:endParaRPr sz="1800"/>
          </a:p>
        </p:txBody>
      </p:sp>
      <p:sp>
        <p:nvSpPr>
          <p:cNvPr id="206" name="Google Shape;206;g3f622ba911e_2_68"/>
          <p:cNvSpPr/>
          <p:nvPr/>
        </p:nvSpPr>
        <p:spPr>
          <a:xfrm>
            <a:off x="1225296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622ba911e_2_68"/>
          <p:cNvSpPr/>
          <p:nvPr/>
        </p:nvSpPr>
        <p:spPr>
          <a:xfrm>
            <a:off x="12618720" y="5989320"/>
            <a:ext cx="777240" cy="777240"/>
          </a:xfrm>
          <a:prstGeom prst="ellipse">
            <a:avLst/>
          </a:prstGeom>
          <a:solidFill>
            <a:srgbClr val="F6E4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/>
          </a:p>
        </p:txBody>
      </p:sp>
      <p:sp>
        <p:nvSpPr>
          <p:cNvPr id="208" name="Google Shape;208;g3f622ba911e_2_68"/>
          <p:cNvSpPr txBox="1"/>
          <p:nvPr/>
        </p:nvSpPr>
        <p:spPr>
          <a:xfrm>
            <a:off x="1261872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Team Collaboration</a:t>
            </a:r>
            <a:endParaRPr sz="3000"/>
          </a:p>
        </p:txBody>
      </p:sp>
      <p:sp>
        <p:nvSpPr>
          <p:cNvPr id="209" name="Google Shape;209;g3f622ba911e_2_68"/>
          <p:cNvSpPr txBox="1"/>
          <p:nvPr/>
        </p:nvSpPr>
        <p:spPr>
          <a:xfrm>
            <a:off x="1261872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Invite members with role-based permissions.</a:t>
            </a:r>
            <a:endParaRPr sz="1800"/>
          </a:p>
        </p:txBody>
      </p:sp>
      <p:sp>
        <p:nvSpPr>
          <p:cNvPr id="210" name="Google Shape;210;g3f622ba911e_2_68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22ba911e_2_10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16" name="Google Shape;216;g3f622ba911e_2_10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f622ba911e_2_10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g3f622ba911e_2_102"/>
          <p:cNvSpPr txBox="1"/>
          <p:nvPr/>
        </p:nvSpPr>
        <p:spPr>
          <a:xfrm>
            <a:off x="-1189151" y="911350"/>
            <a:ext cx="13442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 Exciting</a:t>
            </a:r>
            <a:r>
              <a:rPr b="0" i="0" lang="en-US" sz="5268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622ba911e_2_102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622ba911e_2_102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622ba911e_2_1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g3f622ba911e_2_102"/>
          <p:cNvSpPr/>
          <p:nvPr/>
        </p:nvSpPr>
        <p:spPr>
          <a:xfrm>
            <a:off x="91440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622ba911e_2_102"/>
          <p:cNvSpPr/>
          <p:nvPr/>
        </p:nvSpPr>
        <p:spPr>
          <a:xfrm>
            <a:off x="1280160" y="3657600"/>
            <a:ext cx="1097280" cy="109728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/>
          </a:p>
        </p:txBody>
      </p:sp>
      <p:sp>
        <p:nvSpPr>
          <p:cNvPr id="224" name="Google Shape;224;g3f622ba911e_2_102"/>
          <p:cNvSpPr txBox="1"/>
          <p:nvPr/>
        </p:nvSpPr>
        <p:spPr>
          <a:xfrm>
            <a:off x="128016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Automated Spec Generation</a:t>
            </a:r>
            <a:endParaRPr sz="3000"/>
          </a:p>
        </p:txBody>
      </p:sp>
      <p:sp>
        <p:nvSpPr>
          <p:cNvPr id="225" name="Google Shape;225;g3f622ba911e_2_102"/>
          <p:cNvSpPr txBox="1"/>
          <p:nvPr/>
        </p:nvSpPr>
        <p:spPr>
          <a:xfrm>
            <a:off x="128016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Generate an OpenAPI specification from a codebase using AI.</a:t>
            </a:r>
            <a:endParaRPr sz="1800"/>
          </a:p>
        </p:txBody>
      </p:sp>
      <p:sp>
        <p:nvSpPr>
          <p:cNvPr id="226" name="Google Shape;226;g3f622ba911e_2_102"/>
          <p:cNvSpPr/>
          <p:nvPr/>
        </p:nvSpPr>
        <p:spPr>
          <a:xfrm>
            <a:off x="658368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622ba911e_2_102"/>
          <p:cNvSpPr/>
          <p:nvPr/>
        </p:nvSpPr>
        <p:spPr>
          <a:xfrm>
            <a:off x="6949440" y="3657600"/>
            <a:ext cx="1097280" cy="109728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228" name="Google Shape;228;g3f622ba911e_2_102"/>
          <p:cNvSpPr txBox="1"/>
          <p:nvPr/>
        </p:nvSpPr>
        <p:spPr>
          <a:xfrm>
            <a:off x="694944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One-Click End-to-End Testing</a:t>
            </a:r>
            <a:endParaRPr sz="3000"/>
          </a:p>
        </p:txBody>
      </p:sp>
      <p:sp>
        <p:nvSpPr>
          <p:cNvPr id="229" name="Google Shape;229;g3f622ba911e_2_102"/>
          <p:cNvSpPr txBox="1"/>
          <p:nvPr/>
        </p:nvSpPr>
        <p:spPr>
          <a:xfrm>
            <a:off x="694944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 single action runs the entire testing pipeline for you.</a:t>
            </a:r>
            <a:endParaRPr sz="1800"/>
          </a:p>
        </p:txBody>
      </p:sp>
      <p:sp>
        <p:nvSpPr>
          <p:cNvPr id="230" name="Google Shape;230;g3f622ba911e_2_102"/>
          <p:cNvSpPr/>
          <p:nvPr/>
        </p:nvSpPr>
        <p:spPr>
          <a:xfrm>
            <a:off x="1225296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622ba911e_2_102"/>
          <p:cNvSpPr/>
          <p:nvPr/>
        </p:nvSpPr>
        <p:spPr>
          <a:xfrm>
            <a:off x="12618720" y="3657600"/>
            <a:ext cx="1097280" cy="109728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232" name="Google Shape;232;g3f622ba911e_2_102"/>
          <p:cNvSpPr txBox="1"/>
          <p:nvPr/>
        </p:nvSpPr>
        <p:spPr>
          <a:xfrm>
            <a:off x="1261872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AI-Powered Failure Explanation</a:t>
            </a:r>
            <a:endParaRPr sz="3000"/>
          </a:p>
        </p:txBody>
      </p:sp>
      <p:sp>
        <p:nvSpPr>
          <p:cNvPr id="233" name="Google Shape;233;g3f622ba911e_2_102"/>
          <p:cNvSpPr txBox="1"/>
          <p:nvPr/>
        </p:nvSpPr>
        <p:spPr>
          <a:xfrm>
            <a:off x="1261872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Plain-language explanations of why a test failed.</a:t>
            </a:r>
            <a:endParaRPr sz="1800"/>
          </a:p>
        </p:txBody>
      </p:sp>
      <p:sp>
        <p:nvSpPr>
          <p:cNvPr id="234" name="Google Shape;234;g3f622ba911e_2_102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22ba911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40" name="Google Shape;240;g3f622ba911e_0_0"/>
          <p:cNvSpPr txBox="1"/>
          <p:nvPr/>
        </p:nvSpPr>
        <p:spPr>
          <a:xfrm>
            <a:off x="-1344323" y="338565"/>
            <a:ext cx="112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AutoRestTest Workflow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41" name="Google Shape;241;g3f622ba911e_0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g3f622ba911e_0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g3f622ba911e_0_0"/>
          <p:cNvSpPr/>
          <p:nvPr/>
        </p:nvSpPr>
        <p:spPr>
          <a:xfrm>
            <a:off x="447600" y="1317725"/>
            <a:ext cx="16287098" cy="8548830"/>
          </a:xfrm>
          <a:custGeom>
            <a:rect b="b" l="l" r="r" t="t"/>
            <a:pathLst>
              <a:path extrusionOk="0" h="8790571" w="17848874">
                <a:moveTo>
                  <a:pt x="0" y="0"/>
                </a:moveTo>
                <a:lnTo>
                  <a:pt x="17848875" y="0"/>
                </a:lnTo>
                <a:lnTo>
                  <a:pt x="17848875" y="8790571"/>
                </a:lnTo>
                <a:lnTo>
                  <a:pt x="0" y="879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g3f622ba911e_0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622ba911e_0_0"/>
          <p:cNvSpPr txBox="1"/>
          <p:nvPr/>
        </p:nvSpPr>
        <p:spPr>
          <a:xfrm>
            <a:off x="17109207" y="9624836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22ba911e_0_0"/>
          <p:cNvSpPr txBox="1"/>
          <p:nvPr/>
        </p:nvSpPr>
        <p:spPr>
          <a:xfrm>
            <a:off x="16374925" y="95324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0d23bd31_0_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52" name="Google Shape;252;g3f60d23bd31_0_1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g3f60d23bd31_0_1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g3f60d23bd31_0_10"/>
          <p:cNvSpPr txBox="1"/>
          <p:nvPr/>
        </p:nvSpPr>
        <p:spPr>
          <a:xfrm>
            <a:off x="-3128957" y="627151"/>
            <a:ext cx="122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0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55" name="Google Shape;255;g3f60d23bd31_0_1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f60d23bd31_0_10" title="SPL3 SRS Diagram-use 0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4175" y="2435387"/>
            <a:ext cx="13099658" cy="66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f60d23bd31_0_10"/>
          <p:cNvSpPr txBox="1"/>
          <p:nvPr/>
        </p:nvSpPr>
        <p:spPr>
          <a:xfrm>
            <a:off x="16527325" y="93211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0d23bd31_0_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63" name="Google Shape;263;g3f60d23bd31_0_3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g3f60d23bd31_0_3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g3f60d23bd31_0_32"/>
          <p:cNvSpPr txBox="1"/>
          <p:nvPr/>
        </p:nvSpPr>
        <p:spPr>
          <a:xfrm>
            <a:off x="-2721082" y="451801"/>
            <a:ext cx="122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6" name="Google Shape;266;g3f60d23bd31_0_32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g3f60d23bd31_0_32" title="SPL3 SRS Diagram-use 1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7900" y="1620413"/>
            <a:ext cx="12473498" cy="825882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60d23bd31_0_32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0d23bd31_0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74" name="Google Shape;274;g3f60d23bd31_0_4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3f60d23bd31_0_4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g3f60d23bd31_0_43"/>
          <p:cNvSpPr txBox="1"/>
          <p:nvPr/>
        </p:nvSpPr>
        <p:spPr>
          <a:xfrm>
            <a:off x="-751382" y="631876"/>
            <a:ext cx="122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1.1 - Authentication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60d23bd31_0_4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3f60d23bd31_0_43" title="SPL3 SRS Diagram-use 1.1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1750" y="1774112"/>
            <a:ext cx="7864599" cy="7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60d23bd31_0_43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0d23bd31_0_5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85" name="Google Shape;285;g3f60d23bd31_0_5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f60d23bd31_0_5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g3f60d23bd31_0_55"/>
          <p:cNvSpPr txBox="1"/>
          <p:nvPr/>
        </p:nvSpPr>
        <p:spPr>
          <a:xfrm>
            <a:off x="-985050" y="2795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1.1 - Authentication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60d23bd31_0_5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f60d23bd31_0_55" title="SPL3 SRS Diagram-activity 1.1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2025" y="1041250"/>
            <a:ext cx="8944050" cy="902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f60d23bd31_0_55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60d23bd31_0_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96" name="Google Shape;296;g3f60d23bd31_0_66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g3f60d23bd31_0_66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g3f60d23bd31_0_66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60d23bd31_0_66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g3f60d23bd31_0_66" title="SPL3 SRS Diagram-use 1.2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850" y="1263950"/>
            <a:ext cx="7217675" cy="864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f60d23bd31_0_66"/>
          <p:cNvSpPr txBox="1"/>
          <p:nvPr/>
        </p:nvSpPr>
        <p:spPr>
          <a:xfrm>
            <a:off x="-1584625" y="4273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1.2 - Project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02" name="Google Shape;302;g3f60d23bd31_0_66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0d23bd31_0_7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08" name="Google Shape;308;g3f60d23bd31_0_7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g3f60d23bd31_0_7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g3f60d23bd31_0_77"/>
          <p:cNvSpPr txBox="1"/>
          <p:nvPr/>
        </p:nvSpPr>
        <p:spPr>
          <a:xfrm>
            <a:off x="-586050" y="2173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1.2 - Project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1" name="Google Shape;311;g3f60d23bd31_0_7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60d23bd31_0_7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g3f60d23bd31_0_77" title="SPL3 SRS Diagram-activity 1.2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0038" y="1008250"/>
            <a:ext cx="10047923" cy="906664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f60d23bd31_0_77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60d23bd31_0_9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20" name="Google Shape;320;g3f60d23bd31_0_9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g3f60d23bd31_0_9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g3f60d23bd31_0_91"/>
          <p:cNvSpPr txBox="1"/>
          <p:nvPr/>
        </p:nvSpPr>
        <p:spPr>
          <a:xfrm>
            <a:off x="-295050" y="2642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1.3 - API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Specification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60d23bd31_0_9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f60d23bd31_0_91" title="SPL3 SRS Diagram-use 1.3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3350" y="1325625"/>
            <a:ext cx="11384674" cy="86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f60d23bd31_0_91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60d23bd31_0_1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31" name="Google Shape;331;g3f60d23bd31_0_10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g3f60d23bd31_0_10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g3f60d23bd31_0_101"/>
          <p:cNvSpPr txBox="1"/>
          <p:nvPr/>
        </p:nvSpPr>
        <p:spPr>
          <a:xfrm>
            <a:off x="116900" y="2413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1.3 - API Specification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34" name="Google Shape;334;g3f60d23bd31_0_10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g3f60d23bd31_0_101" title="SPL3 SRS Diagram-activity 1.3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0575" y="1058425"/>
            <a:ext cx="9770225" cy="901647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f60d23bd31_0_101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0d23bd31_0_1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42" name="Google Shape;342;g3f60d23bd31_0_11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g3f60d23bd31_0_11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g3f60d23bd31_0_113"/>
          <p:cNvSpPr txBox="1"/>
          <p:nvPr/>
        </p:nvSpPr>
        <p:spPr>
          <a:xfrm>
            <a:off x="-1201000" y="3811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1.4 - 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45" name="Google Shape;345;g3f60d23bd31_0_11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60d23bd31_0_113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g3f60d23bd31_0_113" title="SPL3 SRS Diagram-use 1.4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6200" y="1228993"/>
            <a:ext cx="11683149" cy="927010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f60d23bd31_0_113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60d23bd31_0_1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54" name="Google Shape;354;g3f60d23bd31_0_12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g3f60d23bd31_0_12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g3f60d23bd31_0_123"/>
          <p:cNvSpPr txBox="1"/>
          <p:nvPr/>
        </p:nvSpPr>
        <p:spPr>
          <a:xfrm>
            <a:off x="-424225" y="5043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1.4 -Test 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60d23bd31_0_12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60d23bd31_0_123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f60d23bd31_0_123" title="SPL3 SRS Diagram-activity 1.4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4823" y="1337175"/>
            <a:ext cx="11938350" cy="8773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60d23bd31_0_123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60d23bd31_0_1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66" name="Google Shape;366;g3f60d23bd31_0_13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g3f60d23bd31_0_13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8" name="Google Shape;368;g3f60d23bd31_0_135"/>
          <p:cNvSpPr txBox="1"/>
          <p:nvPr/>
        </p:nvSpPr>
        <p:spPr>
          <a:xfrm>
            <a:off x="-1785500" y="43955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1.5 - Test Execution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69" name="Google Shape;369;g3f60d23bd31_0_13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f60d23bd31_0_135" title="SPL3 SRS Diagram-use 1.5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7325" y="1350750"/>
            <a:ext cx="10818026" cy="843075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60d23bd31_0_135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60d23bd31_0_1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77" name="Google Shape;377;g3f60d23bd31_0_14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g3f60d23bd31_0_14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g3f60d23bd31_0_145"/>
          <p:cNvSpPr txBox="1"/>
          <p:nvPr/>
        </p:nvSpPr>
        <p:spPr>
          <a:xfrm>
            <a:off x="-1019925" y="2399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1.5 - Test Execution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80" name="Google Shape;380;g3f60d23bd31_0_14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f60d23bd31_0_145" title="SPL3 SRS Diagram-activity 1.5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7600" y="1058425"/>
            <a:ext cx="8205690" cy="92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f60d23bd31_0_145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60d23bd31_0_1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88" name="Google Shape;388;g3f60d23bd31_0_15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g3f60d23bd31_0_15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g3f60d23bd31_0_157"/>
          <p:cNvSpPr txBox="1"/>
          <p:nvPr/>
        </p:nvSpPr>
        <p:spPr>
          <a:xfrm>
            <a:off x="-1201000" y="3811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1.6 - Test Results &amp; Reports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60d23bd31_0_15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60d23bd31_0_15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g3f60d23bd31_0_157" title="SPL3 SRS Diagram-use 1.6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1450" y="1284275"/>
            <a:ext cx="7807900" cy="871992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60d23bd31_0_157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60d23bd31_0_16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00" name="Google Shape;400;g3f60d23bd31_0_16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g3f60d23bd31_0_16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g3f60d23bd31_0_167"/>
          <p:cNvSpPr txBox="1"/>
          <p:nvPr/>
        </p:nvSpPr>
        <p:spPr>
          <a:xfrm>
            <a:off x="-941675" y="2967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1.6 - Test Results &amp; Reports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03" name="Google Shape;403;g3f60d23bd31_0_16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g3f60d23bd31_0_167" title="SPL3 SRS Diagram-activity 1.6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4438" y="1058425"/>
            <a:ext cx="11322499" cy="90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60d23bd31_0_167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60d23bd31_0_17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11" name="Google Shape;411;g3f60d23bd31_0_179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g3f60d23bd31_0_179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g3f60d23bd31_0_179"/>
          <p:cNvSpPr txBox="1"/>
          <p:nvPr/>
        </p:nvSpPr>
        <p:spPr>
          <a:xfrm>
            <a:off x="-1584625" y="3811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1.7 - Team Collaboration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4" name="Google Shape;414;g3f60d23bd31_0_179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g3f60d23bd31_0_179" title="SPL3 SRS Diagram-use 1.7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2025" y="1468425"/>
            <a:ext cx="10088902" cy="846424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60d23bd31_0_179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60d23bd31_0_18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22" name="Google Shape;422;g3f60d23bd31_0_189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g3f60d23bd31_0_189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4" name="Google Shape;424;g3f60d23bd31_0_189"/>
          <p:cNvSpPr txBox="1"/>
          <p:nvPr/>
        </p:nvSpPr>
        <p:spPr>
          <a:xfrm>
            <a:off x="-1029350" y="26915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1.7 - Team Collaboration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25" name="Google Shape;425;g3f60d23bd31_0_189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60d23bd31_0_189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f60d23bd31_0_189" title="SPL3 SRS Diagram-activity 1.7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5250" y="1119525"/>
            <a:ext cx="11021798" cy="8879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f60d23bd31_0_189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60d23bd31_0_2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34" name="Google Shape;434;g3f60d23bd31_0_20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5" name="Google Shape;435;g3f60d23bd31_0_20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6" name="Google Shape;436;g3f60d23bd31_0_201"/>
          <p:cNvSpPr txBox="1"/>
          <p:nvPr/>
        </p:nvSpPr>
        <p:spPr>
          <a:xfrm>
            <a:off x="1767000" y="6361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ER Diagram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37" name="Google Shape;437;g3f60d23bd31_0_20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g3f60d23bd31_0_201" title="SPL3 SRS Diagram-ERD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088" y="1950825"/>
            <a:ext cx="17883914" cy="790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62804494f_0_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44" name="Google Shape;444;g3f62804494f_0_26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g3f62804494f_0_26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g3f62804494f_0_26"/>
          <p:cNvSpPr txBox="1"/>
          <p:nvPr/>
        </p:nvSpPr>
        <p:spPr>
          <a:xfrm>
            <a:off x="598000" y="3497363"/>
            <a:ext cx="14754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9600">
                <a:latin typeface="Merriweather Sans"/>
                <a:ea typeface="Merriweather Sans"/>
                <a:cs typeface="Merriweather Sans"/>
                <a:sym typeface="Merriweather Sans"/>
              </a:rPr>
              <a:t>Demo</a:t>
            </a:r>
            <a:endParaRPr sz="9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47" name="Google Shape;447;g3f62804494f_0_26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62804494f_0_26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622ba911e_0_8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54" name="Google Shape;454;g3f622ba911e_0_8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g3f622ba911e_0_8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g3f622ba911e_0_85"/>
          <p:cNvSpPr txBox="1"/>
          <p:nvPr/>
        </p:nvSpPr>
        <p:spPr>
          <a:xfrm>
            <a:off x="-163150" y="65090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3600">
                <a:latin typeface="Merriweather Sans"/>
                <a:ea typeface="Merriweather Sans"/>
                <a:cs typeface="Merriweather Sans"/>
                <a:sym typeface="Merriweather Sans"/>
              </a:rPr>
              <a:t>	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Authentication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57" name="Google Shape;457;g3f622ba911e_0_8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g3f622ba911e_0_85" title="Screenshot 2026-08-02 0003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6463" y="1911163"/>
            <a:ext cx="7351074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f622ba911e_0_85" title="Screenshot 2026-08-02 00021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8537" y="1961962"/>
            <a:ext cx="7351075" cy="755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622ba911e_0_10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65" name="Google Shape;465;g3f622ba911e_0_10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g3f622ba911e_0_10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g3f622ba911e_0_100"/>
          <p:cNvSpPr txBox="1"/>
          <p:nvPr/>
        </p:nvSpPr>
        <p:spPr>
          <a:xfrm>
            <a:off x="-163150" y="65090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Homepage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68" name="Google Shape;468;g3f622ba911e_0_10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g3f622ba911e_0_100" title="Screenshot 2026-08-02 0007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9248" y="1503000"/>
            <a:ext cx="15889598" cy="72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622ba911e_0_1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75" name="Google Shape;475;g3f622ba911e_0_11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6" name="Google Shape;476;g3f622ba911e_0_11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7" name="Google Shape;477;g3f622ba911e_0_113"/>
          <p:cNvSpPr txBox="1"/>
          <p:nvPr/>
        </p:nvSpPr>
        <p:spPr>
          <a:xfrm>
            <a:off x="742825" y="82625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Project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dashboard 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78" name="Google Shape;478;g3f622ba911e_0_11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g3f622ba911e_0_1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488" y="1871955"/>
            <a:ext cx="16433124" cy="7471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22ba911e_0_1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85" name="Google Shape;485;g3f622ba911e_0_12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6" name="Google Shape;486;g3f622ba911e_0_12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7" name="Google Shape;487;g3f622ba911e_0_125"/>
          <p:cNvSpPr txBox="1"/>
          <p:nvPr/>
        </p:nvSpPr>
        <p:spPr>
          <a:xfrm>
            <a:off x="-163150" y="65090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Endpoint list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88" name="Google Shape;488;g3f622ba911e_0_12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622ba911e_0_125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3f622ba911e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825" y="1815522"/>
            <a:ext cx="16438426" cy="739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622ba911e_0_1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96" name="Google Shape;496;g3f622ba911e_0_13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g3f622ba911e_0_13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g3f622ba911e_0_137"/>
          <p:cNvSpPr txBox="1"/>
          <p:nvPr/>
        </p:nvSpPr>
        <p:spPr>
          <a:xfrm>
            <a:off x="-163150" y="650900"/>
            <a:ext cx="78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99" name="Google Shape;499;g3f622ba911e_0_13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622ba911e_0_13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g3f622ba911e_0_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038" y="2161688"/>
            <a:ext cx="16925925" cy="67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622ba911e_0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07" name="Google Shape;507;g3f622ba911e_0_15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g3f622ba911e_0_15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g3f622ba911e_0_151"/>
          <p:cNvSpPr txBox="1"/>
          <p:nvPr/>
        </p:nvSpPr>
        <p:spPr>
          <a:xfrm>
            <a:off x="-163150" y="650900"/>
            <a:ext cx="71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10" name="Google Shape;510;g3f622ba911e_0_15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622ba911e_0_151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g3f622ba911e_0_151" title="Screenshot 2026-08-02 00124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2056" y="1751426"/>
            <a:ext cx="8039531" cy="745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62804494f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18" name="Google Shape;518;g3f62804494f_0_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g3f62804494f_0_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g3f62804494f_0_4"/>
          <p:cNvSpPr txBox="1"/>
          <p:nvPr/>
        </p:nvSpPr>
        <p:spPr>
          <a:xfrm>
            <a:off x="-572300" y="563225"/>
            <a:ext cx="71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Results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21" name="Google Shape;521;g3f62804494f_0_4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g3f62804494f_0_4" title="Screenshot 2026-08-02 1301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400" y="1817200"/>
            <a:ext cx="15232998" cy="720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62804494f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28" name="Google Shape;528;g3f62804494f_0_1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9" name="Google Shape;529;g3f62804494f_0_1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g3f62804494f_0_15"/>
          <p:cNvSpPr txBox="1"/>
          <p:nvPr/>
        </p:nvSpPr>
        <p:spPr>
          <a:xfrm>
            <a:off x="-163150" y="650900"/>
            <a:ext cx="71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Results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31" name="Google Shape;531;g3f62804494f_0_1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2" name="Google Shape;532;g3f62804494f_0_15" title="Screenshot 2026-08-02 13014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412" y="2086625"/>
            <a:ext cx="15549574" cy="74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622ba911e_0_16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38" name="Google Shape;538;g3f622ba911e_0_16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g3f622ba911e_0_16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g3f622ba911e_0_163"/>
          <p:cNvSpPr txBox="1"/>
          <p:nvPr/>
        </p:nvSpPr>
        <p:spPr>
          <a:xfrm>
            <a:off x="245975" y="446325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Team Collaboration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41" name="Google Shape;541;g3f622ba911e_0_16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g3f622ba911e_0_1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8049" y="1615737"/>
            <a:ext cx="15911900" cy="7594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623872edc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48" name="Google Shape;548;g3f623872edc_0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9" name="Google Shape;549;g3f623872edc_0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g3f623872edc_0_0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3600">
                <a:latin typeface="Merriweather Sans"/>
                <a:ea typeface="Merriweather Sans"/>
                <a:cs typeface="Merriweather Sans"/>
                <a:sym typeface="Merriweather Sans"/>
              </a:rPr>
              <a:t>References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51" name="Google Shape;551;g3f623872edc_0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623872edc_0_0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f623872edc_0_0"/>
          <p:cNvSpPr txBox="1"/>
          <p:nvPr/>
        </p:nvSpPr>
        <p:spPr>
          <a:xfrm>
            <a:off x="2630200" y="2597700"/>
            <a:ext cx="9741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https://drive.google.com/file/d/1G-jta80F8JeALJ1X-nclVKVgbBlwR1H8/view?usp=sharing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