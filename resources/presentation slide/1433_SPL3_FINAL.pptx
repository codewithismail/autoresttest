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Merriweather Sans"/>
      <p:regular r:id="rId24"/>
      <p:bold r:id="rId25"/>
      <p:italic r:id="rId26"/>
      <p:boldItalic r:id="rId27"/>
    </p:embeddedFont>
    <p:embeddedFont>
      <p:font typeface="Monda"/>
      <p:regular r:id="rId28"/>
      <p:bold r:id="rId29"/>
    </p:embeddedFont>
    <p:embeddedFont>
      <p:font typeface="Quattrocento Sans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kEQFThvhH1EUrbgWgdY4DPu8o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39E2B0-82AE-4376-B734-F705C31C7A81}">
  <a:tblStyle styleId="{E539E2B0-82AE-4376-B734-F705C31C7A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erriweather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Sans-italic.fntdata"/><Relationship Id="rId25" Type="http://schemas.openxmlformats.org/officeDocument/2006/relationships/font" Target="fonts/MerriweatherSans-bold.fntdata"/><Relationship Id="rId28" Type="http://schemas.openxmlformats.org/officeDocument/2006/relationships/font" Target="fonts/Monda-regular.fntdata"/><Relationship Id="rId27" Type="http://schemas.openxmlformats.org/officeDocument/2006/relationships/font" Target="fonts/Merriweather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d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4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7079c61eb1c34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h7079c61eb1c346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622ba911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f622ba911e_4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22ba911e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f622ba911e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622ba911e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f622ba911e_2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22ba911e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f622ba911e_2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2dc666dd84b668d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h2dc666dd84b668d6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22ba9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f622ba91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52711f7a033259c8_1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h52711f7a033259c8_1_7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52711f7a033259c8_3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h52711f7a033259c8_33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52711f7a033259c8_1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h52711f7a033259c8_1_6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52711f7a033259c8_1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h52711f7a033259c8_1_6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52711f7a033259c8_1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h52711f7a033259c8_1_6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52711f7a033259c8_1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6" name="Google Shape;386;h52711f7a033259c8_1_6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52711f7a033259c8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h52711f7a033259c8_3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52711f7a033259c8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h52711f7a033259c8_1_7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74cd84855e23f3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h74cd84855e23f3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2711f7a033259c8_29_0)">
  <p:cSld name="Generated (h52711f7a033259c8_29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hyperlink" Target="http://github.com/nager/Nager.Date" TargetMode="External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hyperlink" Target="http://github.com/grokability/snipe-it" TargetMode="External"/><Relationship Id="rId7" Type="http://schemas.openxmlformats.org/officeDocument/2006/relationships/image" Target="../media/image31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hyperlink" Target="http://github.com/guillaumebriday/laravel-blog" TargetMode="External"/><Relationship Id="rId7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hyperlink" Target="http://github.com/FrancisLaboratories/homelogger" TargetMode="Externa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autoresttest.vercel.app" TargetMode="External"/><Relationship Id="rId10" Type="http://schemas.openxmlformats.org/officeDocument/2006/relationships/image" Target="../media/image27.png"/><Relationship Id="rId13" Type="http://schemas.openxmlformats.org/officeDocument/2006/relationships/hyperlink" Target="https://autoresttest.vercel.app" TargetMode="External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4" Type="http://schemas.openxmlformats.org/officeDocument/2006/relationships/hyperlink" Target="https://autoresttest.vercel.app/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hyperlink" Target="https://autoresttest.vercel.app/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autoresttest.vercel.app" TargetMode="External"/><Relationship Id="rId7" Type="http://schemas.openxmlformats.org/officeDocument/2006/relationships/image" Target="../media/image24.png"/><Relationship Id="rId8" Type="http://schemas.openxmlformats.org/officeDocument/2006/relationships/hyperlink" Target="https://autoresttest.vercel.app" TargetMode="External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hyperlink" Target="https://arxiv.org/abs/2601.12735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hyperlink" Target="https://arxiv.org/abs/2411.07098v2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github.com/CodeWithIsmail/AutoRestTest" TargetMode="External"/><Relationship Id="rId7" Type="http://schemas.openxmlformats.org/officeDocument/2006/relationships/hyperlink" Target="https://docs.google.com/presentation/d/1a5YdaNx8cxYphxiUQ-I-3NPXjf6xh7-W/edit?usp=sharing&amp;ouid=106339911626160544503&amp;rtpof=true&amp;sd=true" TargetMode="External"/><Relationship Id="rId8" Type="http://schemas.openxmlformats.org/officeDocument/2006/relationships/hyperlink" Target="https://docs.google.com/presentation/d/1J23ATRQ7J8jLjVxXMxO6MJ6h6e8ZmXZn/edit?usp=sharing&amp;ouid=115068811724755054134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rot="10800000">
            <a:off x="14645974" y="704269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 rotWithShape="1">
            <a:blip r:embed="rId4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10800000">
            <a:off x="-501257" y="704269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 rotWithShape="1">
            <a:blip r:embed="rId5">
              <a:alphaModFix amt="6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1794750" y="1524975"/>
            <a:ext cx="13814700" cy="3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cap="none" strike="noStrike">
                <a:latin typeface="Poppins SemiBold"/>
                <a:ea typeface="Poppins SemiBold"/>
                <a:cs typeface="Poppins SemiBold"/>
                <a:sym typeface="Poppins SemiBold"/>
              </a:rPr>
              <a:t>AutoRestTest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 AI-Powered Platform for Automated REST API Testing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122963" y="8453667"/>
            <a:ext cx="7709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Monda"/>
                <a:ea typeface="Monda"/>
                <a:cs typeface="Monda"/>
                <a:sym typeface="Monda"/>
              </a:rPr>
              <a:t>Supervised by: Toukir Ahammed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572001" y="5884124"/>
            <a:ext cx="82602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Mohammad Ismail Hossain</a:t>
            </a:r>
            <a:endParaRPr b="1" i="0" sz="4200" u="none" cap="none" strike="noStrike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latin typeface="Merriweather Sans"/>
                <a:ea typeface="Merriweather Sans"/>
                <a:cs typeface="Merriweather Sans"/>
                <a:sym typeface="Merriweather Sans"/>
              </a:rPr>
              <a:t>Exam Roll: 2322122</a:t>
            </a:r>
            <a:endParaRPr sz="4200"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BSSE R</a:t>
            </a:r>
            <a:r>
              <a:rPr lang="en-US" sz="4200">
                <a:latin typeface="Merriweather Sans"/>
                <a:ea typeface="Merriweather Sans"/>
                <a:cs typeface="Merriweather Sans"/>
                <a:sym typeface="Merriweather Sans"/>
              </a:rPr>
              <a:t>oll: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1433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7079c61eb1c34694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98" name="Google Shape;98;h7079c61eb1c34694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h7079c61eb1c34694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h7079c61eb1c34694_0_0"/>
          <p:cNvSpPr/>
          <p:nvPr/>
        </p:nvSpPr>
        <p:spPr>
          <a:xfrm>
            <a:off x="1963641" y="2551247"/>
            <a:ext cx="14370243" cy="7131233"/>
          </a:xfrm>
          <a:custGeom>
            <a:rect b="b" l="l" r="r" t="t"/>
            <a:pathLst>
              <a:path extrusionOk="0" h="7131233" w="14370243">
                <a:moveTo>
                  <a:pt x="0" y="0"/>
                </a:moveTo>
                <a:lnTo>
                  <a:pt x="14370243" y="0"/>
                </a:lnTo>
                <a:lnTo>
                  <a:pt x="14370243" y="7131233"/>
                </a:lnTo>
                <a:lnTo>
                  <a:pt x="0" y="7131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h7079c61eb1c34694_0_0"/>
          <p:cNvSpPr txBox="1"/>
          <p:nvPr/>
        </p:nvSpPr>
        <p:spPr>
          <a:xfrm>
            <a:off x="627429" y="1212018"/>
            <a:ext cx="1432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>
                <a:latin typeface="Merriweather Sans"/>
                <a:ea typeface="Merriweather Sans"/>
                <a:cs typeface="Merriweather Sans"/>
                <a:sym typeface="Merriweather Sans"/>
              </a:rPr>
              <a:t>What's</a:t>
            </a:r>
            <a:r>
              <a:rPr b="0" i="0" lang="en-US" sz="55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wrong with Manual testing?</a:t>
            </a:r>
            <a:endParaRPr/>
          </a:p>
        </p:txBody>
      </p:sp>
      <p:sp>
        <p:nvSpPr>
          <p:cNvPr id="102" name="Google Shape;102;h7079c61eb1c34694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h7079c61eb1c34694_0_0"/>
          <p:cNvSpPr txBox="1"/>
          <p:nvPr/>
        </p:nvSpPr>
        <p:spPr>
          <a:xfrm>
            <a:off x="17259300" y="9201150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22ba911e_4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109" name="Google Shape;109;g3f622ba911e_4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g3f622ba911e_4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g3f622ba911e_4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Overview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622ba911e_4_0"/>
          <p:cNvSpPr txBox="1"/>
          <p:nvPr/>
        </p:nvSpPr>
        <p:spPr>
          <a:xfrm>
            <a:off x="9139238" y="4236136"/>
            <a:ext cx="9525" cy="163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622ba911e_4_0"/>
          <p:cNvSpPr txBox="1"/>
          <p:nvPr/>
        </p:nvSpPr>
        <p:spPr>
          <a:xfrm>
            <a:off x="1851440" y="1793399"/>
            <a:ext cx="1353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An AI-powered web platform that turns an OpenAPI specification into a complete, automatically generated and executed REST API test suite.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35D6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14" name="Google Shape;114;g3f622ba911e_4_0"/>
          <p:cNvSpPr txBox="1"/>
          <p:nvPr/>
        </p:nvSpPr>
        <p:spPr>
          <a:xfrm>
            <a:off x="1371400" y="3103805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HOW IT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622ba911e_4_0"/>
          <p:cNvSpPr/>
          <p:nvPr/>
        </p:nvSpPr>
        <p:spPr>
          <a:xfrm>
            <a:off x="932800" y="3479317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622ba911e_4_0"/>
          <p:cNvSpPr/>
          <p:nvPr/>
        </p:nvSpPr>
        <p:spPr>
          <a:xfrm>
            <a:off x="1280160" y="3685032"/>
            <a:ext cx="749700" cy="749700"/>
          </a:xfrm>
          <a:prstGeom prst="ellipse">
            <a:avLst/>
          </a:prstGeom>
          <a:solidFill>
            <a:srgbClr val="2F6FC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622ba911e_4_0"/>
          <p:cNvSpPr/>
          <p:nvPr/>
        </p:nvSpPr>
        <p:spPr>
          <a:xfrm>
            <a:off x="4709160" y="3749040"/>
            <a:ext cx="640080" cy="6400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622ba911e_4_0"/>
          <p:cNvSpPr txBox="1"/>
          <p:nvPr/>
        </p:nvSpPr>
        <p:spPr>
          <a:xfrm>
            <a:off x="129844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Upload API Spec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622ba911e_4_0"/>
          <p:cNvSpPr txBox="1"/>
          <p:nvPr/>
        </p:nvSpPr>
        <p:spPr>
          <a:xfrm>
            <a:off x="129844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file to define the target API.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622ba911e_4_0"/>
          <p:cNvSpPr/>
          <p:nvPr/>
        </p:nvSpPr>
        <p:spPr>
          <a:xfrm>
            <a:off x="6857975" y="3589000"/>
            <a:ext cx="4718100" cy="21762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622ba911e_4_0"/>
          <p:cNvSpPr/>
          <p:nvPr/>
        </p:nvSpPr>
        <p:spPr>
          <a:xfrm>
            <a:off x="7086600" y="3685032"/>
            <a:ext cx="749808" cy="749808"/>
          </a:xfrm>
          <a:prstGeom prst="ellipse">
            <a:avLst/>
          </a:prstGeom>
          <a:solidFill>
            <a:srgbClr val="D96B1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622ba911e_4_0"/>
          <p:cNvSpPr/>
          <p:nvPr/>
        </p:nvSpPr>
        <p:spPr>
          <a:xfrm>
            <a:off x="10515599" y="3749040"/>
            <a:ext cx="640080" cy="6400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D96B1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622ba911e_4_0"/>
          <p:cNvSpPr txBox="1"/>
          <p:nvPr/>
        </p:nvSpPr>
        <p:spPr>
          <a:xfrm>
            <a:off x="7086588" y="4538213"/>
            <a:ext cx="48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System</a:t>
            </a: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Generate &amp; Run Test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622ba911e_4_0"/>
          <p:cNvSpPr txBox="1"/>
          <p:nvPr/>
        </p:nvSpPr>
        <p:spPr>
          <a:xfrm>
            <a:off x="710488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Cooperating AI agents explore the API and adapt from every response.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622ba911e_4_0"/>
          <p:cNvSpPr/>
          <p:nvPr/>
        </p:nvSpPr>
        <p:spPr>
          <a:xfrm>
            <a:off x="12536555" y="3662205"/>
            <a:ext cx="4846200" cy="2286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622ba911e_4_0"/>
          <p:cNvSpPr/>
          <p:nvPr/>
        </p:nvSpPr>
        <p:spPr>
          <a:xfrm>
            <a:off x="12893040" y="3685032"/>
            <a:ext cx="749808" cy="749808"/>
          </a:xfrm>
          <a:prstGeom prst="ellipse">
            <a:avLst/>
          </a:prstGeom>
          <a:solidFill>
            <a:srgbClr val="5E8C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622ba911e_4_0"/>
          <p:cNvSpPr/>
          <p:nvPr/>
        </p:nvSpPr>
        <p:spPr>
          <a:xfrm>
            <a:off x="16322040" y="3749040"/>
            <a:ext cx="640080" cy="640080"/>
          </a:xfrm>
          <a:prstGeom prst="ellipse">
            <a:avLst/>
          </a:prstGeom>
          <a:solidFill>
            <a:srgbClr val="ECF3D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E8C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622ba911e_4_0"/>
          <p:cNvSpPr txBox="1"/>
          <p:nvPr/>
        </p:nvSpPr>
        <p:spPr>
          <a:xfrm>
            <a:off x="12911328" y="4572000"/>
            <a:ext cx="41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Actionable Reports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622ba911e_4_0"/>
          <p:cNvSpPr txBox="1"/>
          <p:nvPr/>
        </p:nvSpPr>
        <p:spPr>
          <a:xfrm>
            <a:off x="12911328" y="5056632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Coverage, status-code breakdown, and detected server errors.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622ba911e_4_0"/>
          <p:cNvSpPr/>
          <p:nvPr/>
        </p:nvSpPr>
        <p:spPr>
          <a:xfrm>
            <a:off x="592074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622ba911e_4_0"/>
          <p:cNvSpPr/>
          <p:nvPr/>
        </p:nvSpPr>
        <p:spPr>
          <a:xfrm>
            <a:off x="11727180" y="4306824"/>
            <a:ext cx="658368" cy="420624"/>
          </a:xfrm>
          <a:prstGeom prst="rightArrow">
            <a:avLst>
              <a:gd fmla="val 55000" name="adj1"/>
              <a:gd fmla="val 55000" name="adj2"/>
            </a:avLst>
          </a:prstGeom>
          <a:solidFill>
            <a:srgbClr val="C3CC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622ba911e_4_0"/>
          <p:cNvSpPr txBox="1"/>
          <p:nvPr/>
        </p:nvSpPr>
        <p:spPr>
          <a:xfrm>
            <a:off x="1371400" y="6044573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POWERED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622ba911e_4_0"/>
          <p:cNvSpPr/>
          <p:nvPr/>
        </p:nvSpPr>
        <p:spPr>
          <a:xfrm>
            <a:off x="914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622ba911e_4_0"/>
          <p:cNvSpPr/>
          <p:nvPr/>
        </p:nvSpPr>
        <p:spPr>
          <a:xfrm>
            <a:off x="1207008" y="6889342"/>
            <a:ext cx="914400" cy="91440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F6F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22ba911e_4_0"/>
          <p:cNvSpPr txBox="1"/>
          <p:nvPr/>
        </p:nvSpPr>
        <p:spPr>
          <a:xfrm>
            <a:off x="228600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Multi-Agent RL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622ba911e_4_0"/>
          <p:cNvSpPr txBox="1"/>
          <p:nvPr/>
        </p:nvSpPr>
        <p:spPr>
          <a:xfrm>
            <a:off x="228600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Agents learn the optimal testing strategy.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622ba911e_4_0"/>
          <p:cNvSpPr/>
          <p:nvPr/>
        </p:nvSpPr>
        <p:spPr>
          <a:xfrm>
            <a:off x="6720700" y="6560150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622ba911e_4_0"/>
          <p:cNvSpPr/>
          <p:nvPr/>
        </p:nvSpPr>
        <p:spPr>
          <a:xfrm>
            <a:off x="7013448" y="6889342"/>
            <a:ext cx="914400" cy="91440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A9A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22ba911e_4_0"/>
          <p:cNvSpPr txBox="1"/>
          <p:nvPr/>
        </p:nvSpPr>
        <p:spPr>
          <a:xfrm>
            <a:off x="8092451" y="6871051"/>
            <a:ext cx="34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Semantic Dependency Graph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622ba911e_4_0"/>
          <p:cNvSpPr txBox="1"/>
          <p:nvPr/>
        </p:nvSpPr>
        <p:spPr>
          <a:xfrm>
            <a:off x="8092490" y="76047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Discovers links between API operations.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622ba911e_4_0"/>
          <p:cNvSpPr/>
          <p:nvPr/>
        </p:nvSpPr>
        <p:spPr>
          <a:xfrm>
            <a:off x="12527400" y="6560149"/>
            <a:ext cx="4846200" cy="1802100"/>
          </a:xfrm>
          <a:prstGeom prst="roundRect">
            <a:avLst>
              <a:gd fmla="val 6000" name="adj"/>
            </a:avLst>
          </a:prstGeom>
          <a:solidFill>
            <a:srgbClr val="F7F9FB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622ba911e_4_0"/>
          <p:cNvSpPr/>
          <p:nvPr/>
        </p:nvSpPr>
        <p:spPr>
          <a:xfrm>
            <a:off x="12819888" y="6889342"/>
            <a:ext cx="914400" cy="9144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7453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622ba911e_4_0"/>
          <p:cNvSpPr txBox="1"/>
          <p:nvPr/>
        </p:nvSpPr>
        <p:spPr>
          <a:xfrm>
            <a:off x="13898880" y="6871054"/>
            <a:ext cx="32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LLM-Driven Inputs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622ba911e_4_0"/>
          <p:cNvSpPr txBox="1"/>
          <p:nvPr/>
        </p:nvSpPr>
        <p:spPr>
          <a:xfrm>
            <a:off x="13898880" y="7383118"/>
            <a:ext cx="324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Generates realistic, schema-valid values.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622ba911e_4_0"/>
          <p:cNvSpPr txBox="1"/>
          <p:nvPr/>
        </p:nvSpPr>
        <p:spPr>
          <a:xfrm>
            <a:off x="1371600" y="8686758"/>
            <a:ext cx="1554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" spcFirstLastPara="1" rIns="36575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A94A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BUILT WITH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622ba911e_4_0"/>
          <p:cNvSpPr/>
          <p:nvPr/>
        </p:nvSpPr>
        <p:spPr>
          <a:xfrm>
            <a:off x="2761488" y="9015942"/>
            <a:ext cx="19386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Next.js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622ba911e_4_0"/>
          <p:cNvSpPr/>
          <p:nvPr/>
        </p:nvSpPr>
        <p:spPr>
          <a:xfrm>
            <a:off x="5065776" y="9015942"/>
            <a:ext cx="17922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NestJS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622ba911e_4_0"/>
          <p:cNvSpPr/>
          <p:nvPr/>
        </p:nvSpPr>
        <p:spPr>
          <a:xfrm>
            <a:off x="7223760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PostgreSQL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622ba911e_4_0"/>
          <p:cNvSpPr/>
          <p:nvPr/>
        </p:nvSpPr>
        <p:spPr>
          <a:xfrm>
            <a:off x="9966960" y="9015942"/>
            <a:ext cx="28164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Python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622ba911e_4_0"/>
          <p:cNvSpPr/>
          <p:nvPr/>
        </p:nvSpPr>
        <p:spPr>
          <a:xfrm>
            <a:off x="13149072" y="9015942"/>
            <a:ext cx="2377500" cy="548700"/>
          </a:xfrm>
          <a:prstGeom prst="roundRect">
            <a:avLst>
              <a:gd fmla="val 50000" name="adj"/>
            </a:avLst>
          </a:prstGeom>
          <a:solidFill>
            <a:srgbClr val="EEF1F5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MARL + LLM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622ba911e_4_0"/>
          <p:cNvSpPr txBox="1"/>
          <p:nvPr/>
        </p:nvSpPr>
        <p:spPr>
          <a:xfrm>
            <a:off x="16374925" y="9168725"/>
            <a:ext cx="1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22ba911e_2_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57" name="Google Shape;157;g3f622ba911e_2_3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f622ba911e_2_3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g3f622ba911e_2_34"/>
          <p:cNvSpPr txBox="1"/>
          <p:nvPr/>
        </p:nvSpPr>
        <p:spPr>
          <a:xfrm>
            <a:off x="-1737726" y="10303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Normal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622ba911e_2_3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622ba911e_2_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g3f622ba911e_2_34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622ba911e_2_34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622ba911e_2_34"/>
          <p:cNvSpPr txBox="1"/>
          <p:nvPr/>
        </p:nvSpPr>
        <p:spPr>
          <a:xfrm>
            <a:off x="128016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User Authentication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622ba911e_2_34"/>
          <p:cNvSpPr txBox="1"/>
          <p:nvPr/>
        </p:nvSpPr>
        <p:spPr>
          <a:xfrm>
            <a:off x="1280150" y="4306825"/>
            <a:ext cx="4755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sign</a:t>
            </a:r>
            <a:r>
              <a:rPr lang="en-US" sz="18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up, login, </a:t>
            </a:r>
            <a:r>
              <a:rPr lang="en-US" sz="18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account verification, password </a:t>
            </a:r>
            <a:r>
              <a:rPr lang="en-US" sz="18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reset,</a:t>
            </a:r>
            <a:r>
              <a:rPr lang="en-US" sz="1800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role-based access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622ba911e_2_34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22ba911e_2_34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622ba911e_2_34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Project Management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622ba911e_2_34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Create and organize API testing projects.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622ba911e_2_34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622ba911e_2_34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622ba911e_2_34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Specification Upload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622ba911e_2_34"/>
          <p:cNvSpPr txBox="1"/>
          <p:nvPr/>
        </p:nvSpPr>
        <p:spPr>
          <a:xfrm>
            <a:off x="1261872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 an OpenAPI 3.0 spec to define the API.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f622ba911e_2_34"/>
          <p:cNvSpPr/>
          <p:nvPr/>
        </p:nvSpPr>
        <p:spPr>
          <a:xfrm>
            <a:off x="91440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622ba911e_2_34"/>
          <p:cNvSpPr/>
          <p:nvPr/>
        </p:nvSpPr>
        <p:spPr>
          <a:xfrm>
            <a:off x="1280160" y="5989320"/>
            <a:ext cx="777300" cy="77730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622ba911e_2_34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Test Execution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622ba911e_2_34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Run AI-generated tests against the target API.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622ba911e_2_34"/>
          <p:cNvSpPr/>
          <p:nvPr/>
        </p:nvSpPr>
        <p:spPr>
          <a:xfrm>
            <a:off x="658368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622ba911e_2_34"/>
          <p:cNvSpPr/>
          <p:nvPr/>
        </p:nvSpPr>
        <p:spPr>
          <a:xfrm>
            <a:off x="6949440" y="5989320"/>
            <a:ext cx="777300" cy="77730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622ba911e_2_34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Result Viewing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622ba911e_2_34"/>
          <p:cNvSpPr txBox="1"/>
          <p:nvPr/>
        </p:nvSpPr>
        <p:spPr>
          <a:xfrm>
            <a:off x="694944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Inspect requests, responses, and outcomes.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622ba911e_2_34"/>
          <p:cNvSpPr/>
          <p:nvPr/>
        </p:nvSpPr>
        <p:spPr>
          <a:xfrm>
            <a:off x="12252960" y="5669280"/>
            <a:ext cx="5120700" cy="26976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f622ba911e_2_34"/>
          <p:cNvSpPr/>
          <p:nvPr/>
        </p:nvSpPr>
        <p:spPr>
          <a:xfrm>
            <a:off x="12618720" y="5989320"/>
            <a:ext cx="777300" cy="77730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622ba911e_2_34"/>
          <p:cNvSpPr txBox="1"/>
          <p:nvPr/>
        </p:nvSpPr>
        <p:spPr>
          <a:xfrm>
            <a:off x="12618725" y="6903725"/>
            <a:ext cx="46407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Completion Notifications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f622ba911e_2_34"/>
          <p:cNvSpPr txBox="1"/>
          <p:nvPr/>
        </p:nvSpPr>
        <p:spPr>
          <a:xfrm>
            <a:off x="12618845" y="7858049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Get notified when a test run finishes.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22ba911e_2_6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191" name="Google Shape;191;g3f622ba911e_2_68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g3f622ba911e_2_68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g3f622ba911e_2_68"/>
          <p:cNvSpPr txBox="1"/>
          <p:nvPr/>
        </p:nvSpPr>
        <p:spPr>
          <a:xfrm>
            <a:off x="-1189151" y="652625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Expected</a:t>
            </a:r>
            <a:r>
              <a:rPr b="0" i="0" lang="en-US" sz="5268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b="0" i="0" sz="5268" u="none" cap="none" strike="noStrike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94" name="Google Shape;194;g3f622ba911e_2_68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622ba911e_2_68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22ba911e_2_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g3f622ba911e_2_68"/>
          <p:cNvSpPr/>
          <p:nvPr/>
        </p:nvSpPr>
        <p:spPr>
          <a:xfrm>
            <a:off x="91440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622ba911e_2_68"/>
          <p:cNvSpPr/>
          <p:nvPr/>
        </p:nvSpPr>
        <p:spPr>
          <a:xfrm>
            <a:off x="1280160" y="2788920"/>
            <a:ext cx="777240" cy="77724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622ba911e_2_68"/>
          <p:cNvSpPr txBox="1"/>
          <p:nvPr/>
        </p:nvSpPr>
        <p:spPr>
          <a:xfrm>
            <a:off x="1280160" y="370332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Automatic Suite Generation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622ba911e_2_68"/>
          <p:cNvSpPr txBox="1"/>
          <p:nvPr/>
        </p:nvSpPr>
        <p:spPr>
          <a:xfrm>
            <a:off x="1280349" y="4620688"/>
            <a:ext cx="4754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 builds test cases directly from the spec.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622ba911e_2_68"/>
          <p:cNvSpPr/>
          <p:nvPr/>
        </p:nvSpPr>
        <p:spPr>
          <a:xfrm>
            <a:off x="658368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622ba911e_2_68"/>
          <p:cNvSpPr/>
          <p:nvPr/>
        </p:nvSpPr>
        <p:spPr>
          <a:xfrm>
            <a:off x="6949440" y="2788920"/>
            <a:ext cx="777240" cy="777240"/>
          </a:xfrm>
          <a:prstGeom prst="ellipse">
            <a:avLst/>
          </a:prstGeom>
          <a:solidFill>
            <a:srgbClr val="E2F3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4BAC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622ba911e_2_68"/>
          <p:cNvSpPr txBox="1"/>
          <p:nvPr/>
        </p:nvSpPr>
        <p:spPr>
          <a:xfrm>
            <a:off x="694944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Save &amp; Reuse Suites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622ba911e_2_68"/>
          <p:cNvSpPr txBox="1"/>
          <p:nvPr/>
        </p:nvSpPr>
        <p:spPr>
          <a:xfrm>
            <a:off x="6949440" y="43068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Persist test suites to re-run them anytime.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622ba911e_2_68"/>
          <p:cNvSpPr/>
          <p:nvPr/>
        </p:nvSpPr>
        <p:spPr>
          <a:xfrm>
            <a:off x="12252960" y="24688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622ba911e_2_68"/>
          <p:cNvSpPr/>
          <p:nvPr/>
        </p:nvSpPr>
        <p:spPr>
          <a:xfrm>
            <a:off x="12618720" y="2788920"/>
            <a:ext cx="777240" cy="777240"/>
          </a:xfrm>
          <a:prstGeom prst="ellipse">
            <a:avLst/>
          </a:prstGeom>
          <a:solidFill>
            <a:srgbClr val="EEF3E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7A9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22ba911e_2_68"/>
          <p:cNvSpPr txBox="1"/>
          <p:nvPr/>
        </p:nvSpPr>
        <p:spPr>
          <a:xfrm>
            <a:off x="12618720" y="37033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Execution History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622ba911e_2_68"/>
          <p:cNvSpPr txBox="1"/>
          <p:nvPr/>
        </p:nvSpPr>
        <p:spPr>
          <a:xfrm>
            <a:off x="12618720" y="43068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Track every past run for each project.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622ba911e_2_68"/>
          <p:cNvSpPr/>
          <p:nvPr/>
        </p:nvSpPr>
        <p:spPr>
          <a:xfrm>
            <a:off x="91440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622ba911e_2_68"/>
          <p:cNvSpPr/>
          <p:nvPr/>
        </p:nvSpPr>
        <p:spPr>
          <a:xfrm>
            <a:off x="1280160" y="5989320"/>
            <a:ext cx="777240" cy="77724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622ba911e_2_68"/>
          <p:cNvSpPr txBox="1"/>
          <p:nvPr/>
        </p:nvSpPr>
        <p:spPr>
          <a:xfrm>
            <a:off x="128016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Reports &amp; Analytics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622ba911e_2_68"/>
          <p:cNvSpPr txBox="1"/>
          <p:nvPr/>
        </p:nvSpPr>
        <p:spPr>
          <a:xfrm>
            <a:off x="128016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 and status-code insights per run.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622ba911e_2_68"/>
          <p:cNvSpPr/>
          <p:nvPr/>
        </p:nvSpPr>
        <p:spPr>
          <a:xfrm>
            <a:off x="658368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622ba911e_2_68"/>
          <p:cNvSpPr/>
          <p:nvPr/>
        </p:nvSpPr>
        <p:spPr>
          <a:xfrm>
            <a:off x="6949440" y="5989320"/>
            <a:ext cx="777240" cy="77724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⬇️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622ba911e_2_68"/>
          <p:cNvSpPr txBox="1"/>
          <p:nvPr/>
        </p:nvSpPr>
        <p:spPr>
          <a:xfrm>
            <a:off x="694944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Export Reports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622ba911e_2_68"/>
          <p:cNvSpPr txBox="1"/>
          <p:nvPr/>
        </p:nvSpPr>
        <p:spPr>
          <a:xfrm>
            <a:off x="6949440" y="7507224"/>
            <a:ext cx="4389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Download results as a shareable PDF.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622ba911e_2_68"/>
          <p:cNvSpPr/>
          <p:nvPr/>
        </p:nvSpPr>
        <p:spPr>
          <a:xfrm>
            <a:off x="12252960" y="5669280"/>
            <a:ext cx="5120640" cy="269748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622ba911e_2_68"/>
          <p:cNvSpPr/>
          <p:nvPr/>
        </p:nvSpPr>
        <p:spPr>
          <a:xfrm>
            <a:off x="12618720" y="5989320"/>
            <a:ext cx="777240" cy="777240"/>
          </a:xfrm>
          <a:prstGeom prst="ellipse">
            <a:avLst/>
          </a:prstGeom>
          <a:solidFill>
            <a:srgbClr val="F6E4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622ba911e_2_68"/>
          <p:cNvSpPr txBox="1"/>
          <p:nvPr/>
        </p:nvSpPr>
        <p:spPr>
          <a:xfrm>
            <a:off x="12618720" y="6903720"/>
            <a:ext cx="43890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Team Collaboration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622ba911e_2_68"/>
          <p:cNvSpPr txBox="1"/>
          <p:nvPr/>
        </p:nvSpPr>
        <p:spPr>
          <a:xfrm>
            <a:off x="12618720" y="7507224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Invite members with role-based permissions.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622ba911e_2_68"/>
          <p:cNvSpPr txBox="1"/>
          <p:nvPr/>
        </p:nvSpPr>
        <p:spPr>
          <a:xfrm>
            <a:off x="16374925" y="9168725"/>
            <a:ext cx="131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22ba911e_2_10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27" name="Google Shape;227;g3f622ba911e_2_102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g3f622ba911e_2_102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g3f622ba911e_2_102"/>
          <p:cNvSpPr txBox="1"/>
          <p:nvPr/>
        </p:nvSpPr>
        <p:spPr>
          <a:xfrm>
            <a:off x="-1189151" y="911350"/>
            <a:ext cx="134421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Functional Requirements -  Exciting</a:t>
            </a:r>
            <a:r>
              <a:rPr b="0" i="0" lang="en-US" sz="5268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622ba911e_2_102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622ba911e_2_102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622ba911e_2_1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g3f622ba911e_2_102"/>
          <p:cNvSpPr/>
          <p:nvPr/>
        </p:nvSpPr>
        <p:spPr>
          <a:xfrm>
            <a:off x="91440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622ba911e_2_102"/>
          <p:cNvSpPr/>
          <p:nvPr/>
        </p:nvSpPr>
        <p:spPr>
          <a:xfrm>
            <a:off x="1280160" y="3657600"/>
            <a:ext cx="1097280" cy="1097280"/>
          </a:xfrm>
          <a:prstGeom prst="ellipse">
            <a:avLst/>
          </a:prstGeom>
          <a:solidFill>
            <a:srgbClr val="ECE6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8064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622ba911e_2_102"/>
          <p:cNvSpPr txBox="1"/>
          <p:nvPr/>
        </p:nvSpPr>
        <p:spPr>
          <a:xfrm>
            <a:off x="128016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Automated Spec Generation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622ba911e_2_102"/>
          <p:cNvSpPr txBox="1"/>
          <p:nvPr/>
        </p:nvSpPr>
        <p:spPr>
          <a:xfrm>
            <a:off x="128016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Generate an OpenAPI specification from a codebase using AI.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622ba911e_2_102"/>
          <p:cNvSpPr/>
          <p:nvPr/>
        </p:nvSpPr>
        <p:spPr>
          <a:xfrm>
            <a:off x="658368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622ba911e_2_102"/>
          <p:cNvSpPr/>
          <p:nvPr/>
        </p:nvSpPr>
        <p:spPr>
          <a:xfrm>
            <a:off x="6949440" y="3657600"/>
            <a:ext cx="1097280" cy="1097280"/>
          </a:xfrm>
          <a:prstGeom prst="ellipse">
            <a:avLst/>
          </a:prstGeom>
          <a:solidFill>
            <a:srgbClr val="FDEC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E0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622ba911e_2_102"/>
          <p:cNvSpPr txBox="1"/>
          <p:nvPr/>
        </p:nvSpPr>
        <p:spPr>
          <a:xfrm>
            <a:off x="694944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One-Click End-to-End 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622ba911e_2_102"/>
          <p:cNvSpPr txBox="1"/>
          <p:nvPr/>
        </p:nvSpPr>
        <p:spPr>
          <a:xfrm>
            <a:off x="694944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 single action runs the entire testing pipeline for you.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622ba911e_2_102"/>
          <p:cNvSpPr/>
          <p:nvPr/>
        </p:nvSpPr>
        <p:spPr>
          <a:xfrm>
            <a:off x="12252960" y="3200400"/>
            <a:ext cx="5120640" cy="39776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1E8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 dir="5400000" dist="32000">
              <a:srgbClr val="1F2A44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622ba911e_2_102"/>
          <p:cNvSpPr/>
          <p:nvPr/>
        </p:nvSpPr>
        <p:spPr>
          <a:xfrm>
            <a:off x="12618720" y="3657600"/>
            <a:ext cx="1097280" cy="1097280"/>
          </a:xfrm>
          <a:prstGeom prst="ellipse">
            <a:avLst/>
          </a:prstGeom>
          <a:solidFill>
            <a:srgbClr val="E4EC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4F81B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622ba911e_2_102"/>
          <p:cNvSpPr txBox="1"/>
          <p:nvPr/>
        </p:nvSpPr>
        <p:spPr>
          <a:xfrm>
            <a:off x="12618720" y="4937760"/>
            <a:ext cx="43890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AI-Powered </a:t>
            </a:r>
            <a:r>
              <a:rPr b="1" lang="en-US" sz="3000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Req-Res </a:t>
            </a:r>
            <a:r>
              <a:rPr b="1" i="0" lang="en-US" sz="3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Explanation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622ba911e_2_102"/>
          <p:cNvSpPr txBox="1"/>
          <p:nvPr/>
        </p:nvSpPr>
        <p:spPr>
          <a:xfrm>
            <a:off x="12618720" y="6126480"/>
            <a:ext cx="4389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47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Plain-language explanations of why a test failed.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2dc666dd84b668d6_1_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50" name="Google Shape;250;h2dc666dd84b668d6_1_1"/>
          <p:cNvSpPr txBox="1"/>
          <p:nvPr/>
        </p:nvSpPr>
        <p:spPr>
          <a:xfrm>
            <a:off x="2" y="727415"/>
            <a:ext cx="112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Generating API Spec from Source Code</a:t>
            </a:r>
            <a:endParaRPr b="0" i="0" sz="4000" u="none" cap="none" strike="noStrike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51" name="Google Shape;251;h2dc666dd84b668d6_1_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h2dc666dd84b668d6_1_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h2dc666dd84b668d6_1_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h2dc666dd84b668d6_1_1"/>
          <p:cNvSpPr txBox="1"/>
          <p:nvPr/>
        </p:nvSpPr>
        <p:spPr>
          <a:xfrm>
            <a:off x="17109207" y="9624836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h2dc666dd84b668d6_1_1" title="Screenshot 2026-10-04 at 14-04-55 OOPS Automated generation of REST API specification via LLMs - Automated generation of REST API specification via LLMs.pd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300" y="1738125"/>
            <a:ext cx="15963900" cy="7886700"/>
          </a:xfrm>
          <a:prstGeom prst="roundRect">
            <a:avLst>
              <a:gd fmla="val 695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622ba911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61" name="Google Shape;261;g3f622ba911e_0_0"/>
          <p:cNvSpPr txBox="1"/>
          <p:nvPr/>
        </p:nvSpPr>
        <p:spPr>
          <a:xfrm>
            <a:off x="-1344323" y="338565"/>
            <a:ext cx="112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AutoRestTest </a:t>
            </a:r>
            <a:r>
              <a:rPr lang="en-US" sz="4000">
                <a:latin typeface="Merriweather Sans"/>
                <a:ea typeface="Merriweather Sans"/>
                <a:cs typeface="Merriweather Sans"/>
                <a:sym typeface="Merriweather Sans"/>
              </a:rPr>
              <a:t>Testing workflow</a:t>
            </a:r>
            <a:endParaRPr b="0" i="0" sz="4000" u="none" cap="none" strike="noStrike">
              <a:solidFill>
                <a:srgbClr val="0000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2" name="Google Shape;262;g3f622ba911e_0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g3f622ba911e_0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3f622ba911e_0_0"/>
          <p:cNvSpPr/>
          <p:nvPr/>
        </p:nvSpPr>
        <p:spPr>
          <a:xfrm>
            <a:off x="447600" y="1317725"/>
            <a:ext cx="16287098" cy="8548830"/>
          </a:xfrm>
          <a:custGeom>
            <a:rect b="b" l="l" r="r" t="t"/>
            <a:pathLst>
              <a:path extrusionOk="0" h="8790571" w="17848874">
                <a:moveTo>
                  <a:pt x="0" y="0"/>
                </a:moveTo>
                <a:lnTo>
                  <a:pt x="17848875" y="0"/>
                </a:lnTo>
                <a:lnTo>
                  <a:pt x="17848875" y="8790571"/>
                </a:lnTo>
                <a:lnTo>
                  <a:pt x="0" y="879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g3f622ba911e_0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622ba911e_0_0"/>
          <p:cNvSpPr txBox="1"/>
          <p:nvPr/>
        </p:nvSpPr>
        <p:spPr>
          <a:xfrm>
            <a:off x="17109207" y="9624836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52711f7a033259c8_1_70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272" name="Google Shape;272;h52711f7a033259c8_1_706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h52711f7a033259c8_1_706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h52711f7a033259c8_1_706"/>
          <p:cNvSpPr txBox="1"/>
          <p:nvPr/>
        </p:nvSpPr>
        <p:spPr>
          <a:xfrm>
            <a:off x="598000" y="3497363"/>
            <a:ext cx="14754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9600">
                <a:latin typeface="Merriweather Sans"/>
                <a:ea typeface="Merriweather Sans"/>
                <a:cs typeface="Merriweather Sans"/>
                <a:sym typeface="Merriweather Sans"/>
              </a:rPr>
              <a:t>Real-World Evaluation</a:t>
            </a:r>
            <a:endParaRPr b="0" i="0" sz="9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75" name="Google Shape;275;h52711f7a033259c8_1_706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52711f7a033259c8_1_706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52711f7a033259c8_33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282" name="Google Shape;282;h52711f7a033259c8_33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h52711f7a033259c8_33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h52711f7a033259c8_33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Real-World Evaluation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52711f7a033259c8_33_0"/>
          <p:cNvSpPr/>
          <p:nvPr/>
        </p:nvSpPr>
        <p:spPr>
          <a:xfrm>
            <a:off x="914400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h52711f7a033259c8_33_0"/>
          <p:cNvSpPr/>
          <p:nvPr/>
        </p:nvSpPr>
        <p:spPr>
          <a:xfrm>
            <a:off x="1143000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h52711f7a033259c8_33_0"/>
          <p:cNvSpPr txBox="1"/>
          <p:nvPr/>
        </p:nvSpPr>
        <p:spPr>
          <a:xfrm>
            <a:off x="914400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F6FC6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15</a:t>
            </a:r>
            <a:endParaRPr/>
          </a:p>
        </p:txBody>
      </p:sp>
      <p:sp>
        <p:nvSpPr>
          <p:cNvPr id="288" name="Google Shape;288;h52711f7a033259c8_33_0"/>
          <p:cNvSpPr txBox="1"/>
          <p:nvPr/>
        </p:nvSpPr>
        <p:spPr>
          <a:xfrm>
            <a:off x="914400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REAL-WORLD APIs</a:t>
            </a:r>
            <a:endParaRPr/>
          </a:p>
        </p:txBody>
      </p:sp>
      <p:sp>
        <p:nvSpPr>
          <p:cNvPr id="289" name="Google Shape;289;h52711f7a033259c8_33_0"/>
          <p:cNvSpPr/>
          <p:nvPr/>
        </p:nvSpPr>
        <p:spPr>
          <a:xfrm>
            <a:off x="3691128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h52711f7a033259c8_33_0"/>
          <p:cNvSpPr/>
          <p:nvPr/>
        </p:nvSpPr>
        <p:spPr>
          <a:xfrm>
            <a:off x="3919728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52711f7a033259c8_33_0"/>
          <p:cNvSpPr txBox="1"/>
          <p:nvPr/>
        </p:nvSpPr>
        <p:spPr>
          <a:xfrm>
            <a:off x="3691128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F6FC6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581</a:t>
            </a:r>
            <a:endParaRPr/>
          </a:p>
        </p:txBody>
      </p:sp>
      <p:sp>
        <p:nvSpPr>
          <p:cNvPr id="292" name="Google Shape;292;h52711f7a033259c8_33_0"/>
          <p:cNvSpPr txBox="1"/>
          <p:nvPr/>
        </p:nvSpPr>
        <p:spPr>
          <a:xfrm>
            <a:off x="3691128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TOTAL ENDPOINTS</a:t>
            </a:r>
            <a:endParaRPr/>
          </a:p>
        </p:txBody>
      </p:sp>
      <p:sp>
        <p:nvSpPr>
          <p:cNvPr id="293" name="Google Shape;293;h52711f7a033259c8_33_0"/>
          <p:cNvSpPr/>
          <p:nvPr/>
        </p:nvSpPr>
        <p:spPr>
          <a:xfrm>
            <a:off x="6467856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h52711f7a033259c8_33_0"/>
          <p:cNvSpPr/>
          <p:nvPr/>
        </p:nvSpPr>
        <p:spPr>
          <a:xfrm>
            <a:off x="6696456" y="1645920"/>
            <a:ext cx="2118360" cy="54864"/>
          </a:xfrm>
          <a:prstGeom prst="rect">
            <a:avLst/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52711f7a033259c8_33_0"/>
          <p:cNvSpPr txBox="1"/>
          <p:nvPr/>
        </p:nvSpPr>
        <p:spPr>
          <a:xfrm>
            <a:off x="6467856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A85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88.5%</a:t>
            </a:r>
            <a:endParaRPr/>
          </a:p>
        </p:txBody>
      </p:sp>
      <p:sp>
        <p:nvSpPr>
          <p:cNvPr id="296" name="Google Shape;296;h52711f7a033259c8_33_0"/>
          <p:cNvSpPr txBox="1"/>
          <p:nvPr/>
        </p:nvSpPr>
        <p:spPr>
          <a:xfrm>
            <a:off x="6467856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AVG. COVERAGE</a:t>
            </a:r>
            <a:endParaRPr/>
          </a:p>
        </p:txBody>
      </p:sp>
      <p:sp>
        <p:nvSpPr>
          <p:cNvPr id="297" name="Google Shape;297;h52711f7a033259c8_33_0"/>
          <p:cNvSpPr/>
          <p:nvPr/>
        </p:nvSpPr>
        <p:spPr>
          <a:xfrm>
            <a:off x="9244584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52711f7a033259c8_33_0"/>
          <p:cNvSpPr/>
          <p:nvPr/>
        </p:nvSpPr>
        <p:spPr>
          <a:xfrm>
            <a:off x="9473184" y="1645920"/>
            <a:ext cx="2118360" cy="54864"/>
          </a:xfrm>
          <a:prstGeom prst="rect">
            <a:avLst/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52711f7a033259c8_33_0"/>
          <p:cNvSpPr txBox="1"/>
          <p:nvPr/>
        </p:nvSpPr>
        <p:spPr>
          <a:xfrm>
            <a:off x="9244584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F6FC6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21,694</a:t>
            </a:r>
            <a:endParaRPr/>
          </a:p>
        </p:txBody>
      </p:sp>
      <p:sp>
        <p:nvSpPr>
          <p:cNvPr id="300" name="Google Shape;300;h52711f7a033259c8_33_0"/>
          <p:cNvSpPr txBox="1"/>
          <p:nvPr/>
        </p:nvSpPr>
        <p:spPr>
          <a:xfrm>
            <a:off x="9244584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REQUESTS SENT</a:t>
            </a:r>
            <a:endParaRPr/>
          </a:p>
        </p:txBody>
      </p:sp>
      <p:sp>
        <p:nvSpPr>
          <p:cNvPr id="301" name="Google Shape;301;h52711f7a033259c8_33_0"/>
          <p:cNvSpPr/>
          <p:nvPr/>
        </p:nvSpPr>
        <p:spPr>
          <a:xfrm>
            <a:off x="12021312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52711f7a033259c8_33_0"/>
          <p:cNvSpPr/>
          <p:nvPr/>
        </p:nvSpPr>
        <p:spPr>
          <a:xfrm>
            <a:off x="12249912" y="1645920"/>
            <a:ext cx="2118360" cy="54864"/>
          </a:xfrm>
          <a:prstGeom prst="rect">
            <a:avLst/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52711f7a033259c8_33_0"/>
          <p:cNvSpPr txBox="1"/>
          <p:nvPr/>
        </p:nvSpPr>
        <p:spPr>
          <a:xfrm>
            <a:off x="12021312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96B1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396</a:t>
            </a:r>
            <a:endParaRPr/>
          </a:p>
        </p:txBody>
      </p:sp>
      <p:sp>
        <p:nvSpPr>
          <p:cNvPr id="304" name="Google Shape;304;h52711f7a033259c8_33_0"/>
          <p:cNvSpPr txBox="1"/>
          <p:nvPr/>
        </p:nvSpPr>
        <p:spPr>
          <a:xfrm>
            <a:off x="12021312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SERVER ERRORS (5xx)</a:t>
            </a:r>
            <a:endParaRPr/>
          </a:p>
        </p:txBody>
      </p:sp>
      <p:sp>
        <p:nvSpPr>
          <p:cNvPr id="305" name="Google Shape;305;h52711f7a033259c8_33_0"/>
          <p:cNvSpPr/>
          <p:nvPr/>
        </p:nvSpPr>
        <p:spPr>
          <a:xfrm>
            <a:off x="14798040" y="1645920"/>
            <a:ext cx="2575560" cy="96012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h52711f7a033259c8_33_0"/>
          <p:cNvSpPr/>
          <p:nvPr/>
        </p:nvSpPr>
        <p:spPr>
          <a:xfrm>
            <a:off x="15026640" y="1645920"/>
            <a:ext cx="211836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52711f7a033259c8_33_0"/>
          <p:cNvSpPr txBox="1"/>
          <p:nvPr/>
        </p:nvSpPr>
        <p:spPr>
          <a:xfrm>
            <a:off x="14798040" y="1755648"/>
            <a:ext cx="2575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0392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63</a:t>
            </a:r>
            <a:endParaRPr/>
          </a:p>
        </p:txBody>
      </p:sp>
      <p:sp>
        <p:nvSpPr>
          <p:cNvPr id="308" name="Google Shape;308;h52711f7a033259c8_33_0"/>
          <p:cNvSpPr txBox="1"/>
          <p:nvPr/>
        </p:nvSpPr>
        <p:spPr>
          <a:xfrm>
            <a:off x="14798040" y="2267712"/>
            <a:ext cx="2575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FAULTY ENDPOINTS</a:t>
            </a:r>
            <a:endParaRPr/>
          </a:p>
        </p:txBody>
      </p:sp>
      <p:graphicFrame>
        <p:nvGraphicFramePr>
          <p:cNvPr id="309" name="Google Shape;309;h52711f7a033259c8_33_0"/>
          <p:cNvGraphicFramePr/>
          <p:nvPr/>
        </p:nvGraphicFramePr>
        <p:xfrm>
          <a:off x="914400" y="292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{E539E2B0-82AE-4376-B734-F705C31C7A81}</a:tableStyleId>
              </a:tblPr>
              <a:tblGrid>
                <a:gridCol w="640075"/>
                <a:gridCol w="3657600"/>
                <a:gridCol w="1645925"/>
                <a:gridCol w="3931925"/>
                <a:gridCol w="1554475"/>
                <a:gridCol w="1645925"/>
                <a:gridCol w="1554475"/>
                <a:gridCol w="18288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#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API Project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Endpoints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Endpoint Coverage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Requests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Success (2xx)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Errors (5xx)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Faulty Endpoints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1F497D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CycleCalcs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100%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1,130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501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VATcomply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100%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468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325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Holiday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100%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611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361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Snipe-IT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145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98%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3,162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2,104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CosmyDay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94%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414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249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ApogeoAPI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93%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496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249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HomeLogger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92%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2,208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1,134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8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UK Parliament Members API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91%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1,306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590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Laravel Blog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91%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2,250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1,235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IUCN Red List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88%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894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423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RealWorld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88%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949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230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Grocy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82%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1,198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414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152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UK Parliament Bills API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77%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4,912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1,857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CareerStory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18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72%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680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170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  <a:tr h="3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15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LubeLogger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76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497D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62%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535D6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1,016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FA857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314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D96B13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30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0392B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19</a:t>
                      </a:r>
                      <a:endParaRPr/>
                    </a:p>
                  </a:txBody>
                  <a:tcPr marT="0" marB="0" marR="109725" marL="109725" anchor="ctr"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h52711f7a033259c8_33_0"/>
          <p:cNvSpPr/>
          <p:nvPr/>
        </p:nvSpPr>
        <p:spPr>
          <a:xfrm>
            <a:off x="7040880" y="3456432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52711f7a033259c8_33_0"/>
          <p:cNvSpPr/>
          <p:nvPr/>
        </p:nvSpPr>
        <p:spPr>
          <a:xfrm>
            <a:off x="7040880" y="3456432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h52711f7a033259c8_33_0"/>
          <p:cNvSpPr/>
          <p:nvPr/>
        </p:nvSpPr>
        <p:spPr>
          <a:xfrm>
            <a:off x="7040880" y="3831336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52711f7a033259c8_33_0"/>
          <p:cNvSpPr/>
          <p:nvPr/>
        </p:nvSpPr>
        <p:spPr>
          <a:xfrm>
            <a:off x="7040880" y="3831336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52711f7a033259c8_33_0"/>
          <p:cNvSpPr/>
          <p:nvPr/>
        </p:nvSpPr>
        <p:spPr>
          <a:xfrm>
            <a:off x="7040880" y="4206240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h52711f7a033259c8_33_0"/>
          <p:cNvSpPr/>
          <p:nvPr/>
        </p:nvSpPr>
        <p:spPr>
          <a:xfrm>
            <a:off x="7040880" y="4206240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h52711f7a033259c8_33_0"/>
          <p:cNvSpPr/>
          <p:nvPr/>
        </p:nvSpPr>
        <p:spPr>
          <a:xfrm>
            <a:off x="7040880" y="4581144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h52711f7a033259c8_33_0"/>
          <p:cNvSpPr/>
          <p:nvPr/>
        </p:nvSpPr>
        <p:spPr>
          <a:xfrm>
            <a:off x="7040880" y="4581144"/>
            <a:ext cx="2464308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h52711f7a033259c8_33_0"/>
          <p:cNvSpPr/>
          <p:nvPr/>
        </p:nvSpPr>
        <p:spPr>
          <a:xfrm>
            <a:off x="7040880" y="4956048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h52711f7a033259c8_33_0"/>
          <p:cNvSpPr/>
          <p:nvPr/>
        </p:nvSpPr>
        <p:spPr>
          <a:xfrm>
            <a:off x="7040880" y="4956048"/>
            <a:ext cx="2363724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52711f7a033259c8_33_0"/>
          <p:cNvSpPr/>
          <p:nvPr/>
        </p:nvSpPr>
        <p:spPr>
          <a:xfrm>
            <a:off x="7040880" y="5330952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52711f7a033259c8_33_0"/>
          <p:cNvSpPr/>
          <p:nvPr/>
        </p:nvSpPr>
        <p:spPr>
          <a:xfrm>
            <a:off x="7040880" y="5330952"/>
            <a:ext cx="2338578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52711f7a033259c8_33_0"/>
          <p:cNvSpPr/>
          <p:nvPr/>
        </p:nvSpPr>
        <p:spPr>
          <a:xfrm>
            <a:off x="7040880" y="5705856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52711f7a033259c8_33_0"/>
          <p:cNvSpPr/>
          <p:nvPr/>
        </p:nvSpPr>
        <p:spPr>
          <a:xfrm>
            <a:off x="7040880" y="5705856"/>
            <a:ext cx="2313432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52711f7a033259c8_33_0"/>
          <p:cNvSpPr/>
          <p:nvPr/>
        </p:nvSpPr>
        <p:spPr>
          <a:xfrm>
            <a:off x="7040880" y="6080760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52711f7a033259c8_33_0"/>
          <p:cNvSpPr/>
          <p:nvPr/>
        </p:nvSpPr>
        <p:spPr>
          <a:xfrm>
            <a:off x="7040880" y="6080760"/>
            <a:ext cx="2288286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52711f7a033259c8_33_0"/>
          <p:cNvSpPr/>
          <p:nvPr/>
        </p:nvSpPr>
        <p:spPr>
          <a:xfrm>
            <a:off x="7040880" y="6455664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h52711f7a033259c8_33_0"/>
          <p:cNvSpPr/>
          <p:nvPr/>
        </p:nvSpPr>
        <p:spPr>
          <a:xfrm>
            <a:off x="7040880" y="6455664"/>
            <a:ext cx="2288286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h52711f7a033259c8_33_0"/>
          <p:cNvSpPr/>
          <p:nvPr/>
        </p:nvSpPr>
        <p:spPr>
          <a:xfrm>
            <a:off x="7040880" y="6830568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h52711f7a033259c8_33_0"/>
          <p:cNvSpPr/>
          <p:nvPr/>
        </p:nvSpPr>
        <p:spPr>
          <a:xfrm>
            <a:off x="7040880" y="6830568"/>
            <a:ext cx="2212848" cy="155448"/>
          </a:xfrm>
          <a:prstGeom prst="roundRect">
            <a:avLst>
              <a:gd fmla="val 50000" name="adj"/>
            </a:avLst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h52711f7a033259c8_33_0"/>
          <p:cNvSpPr/>
          <p:nvPr/>
        </p:nvSpPr>
        <p:spPr>
          <a:xfrm>
            <a:off x="7040880" y="7205472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h52711f7a033259c8_33_0"/>
          <p:cNvSpPr/>
          <p:nvPr/>
        </p:nvSpPr>
        <p:spPr>
          <a:xfrm>
            <a:off x="7040880" y="7205472"/>
            <a:ext cx="2212848" cy="155448"/>
          </a:xfrm>
          <a:prstGeom prst="roundRect">
            <a:avLst>
              <a:gd fmla="val 50000" name="adj"/>
            </a:avLst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h52711f7a033259c8_33_0"/>
          <p:cNvSpPr/>
          <p:nvPr/>
        </p:nvSpPr>
        <p:spPr>
          <a:xfrm>
            <a:off x="7040880" y="7580376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h52711f7a033259c8_33_0"/>
          <p:cNvSpPr/>
          <p:nvPr/>
        </p:nvSpPr>
        <p:spPr>
          <a:xfrm>
            <a:off x="7040880" y="7580376"/>
            <a:ext cx="2061972" cy="155448"/>
          </a:xfrm>
          <a:prstGeom prst="roundRect">
            <a:avLst>
              <a:gd fmla="val 50000" name="adj"/>
            </a:avLst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h52711f7a033259c8_33_0"/>
          <p:cNvSpPr/>
          <p:nvPr/>
        </p:nvSpPr>
        <p:spPr>
          <a:xfrm>
            <a:off x="7040880" y="7955280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52711f7a033259c8_33_0"/>
          <p:cNvSpPr/>
          <p:nvPr/>
        </p:nvSpPr>
        <p:spPr>
          <a:xfrm>
            <a:off x="7040880" y="7955280"/>
            <a:ext cx="1936242" cy="155448"/>
          </a:xfrm>
          <a:prstGeom prst="roundRect">
            <a:avLst>
              <a:gd fmla="val 50000" name="adj"/>
            </a:avLst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h52711f7a033259c8_33_0"/>
          <p:cNvSpPr/>
          <p:nvPr/>
        </p:nvSpPr>
        <p:spPr>
          <a:xfrm>
            <a:off x="7040880" y="8330184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h52711f7a033259c8_33_0"/>
          <p:cNvSpPr/>
          <p:nvPr/>
        </p:nvSpPr>
        <p:spPr>
          <a:xfrm>
            <a:off x="7040880" y="8330184"/>
            <a:ext cx="1810512" cy="155448"/>
          </a:xfrm>
          <a:prstGeom prst="roundRect">
            <a:avLst>
              <a:gd fmla="val 50000" name="adj"/>
            </a:avLst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h52711f7a033259c8_33_0"/>
          <p:cNvSpPr/>
          <p:nvPr/>
        </p:nvSpPr>
        <p:spPr>
          <a:xfrm>
            <a:off x="7040880" y="8705088"/>
            <a:ext cx="2514600" cy="155448"/>
          </a:xfrm>
          <a:prstGeom prst="roundRect">
            <a:avLst>
              <a:gd fmla="val 50000" name="adj"/>
            </a:avLst>
          </a:prstGeom>
          <a:solidFill>
            <a:srgbClr val="E4ECF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52711f7a033259c8_33_0"/>
          <p:cNvSpPr/>
          <p:nvPr/>
        </p:nvSpPr>
        <p:spPr>
          <a:xfrm>
            <a:off x="7040880" y="8705088"/>
            <a:ext cx="1559052" cy="155448"/>
          </a:xfrm>
          <a:prstGeom prst="roundRect">
            <a:avLst>
              <a:gd fmla="val 50000" name="adj"/>
            </a:avLst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52711f7a033259c8_33_0"/>
          <p:cNvSpPr/>
          <p:nvPr/>
        </p:nvSpPr>
        <p:spPr>
          <a:xfrm>
            <a:off x="914400" y="9299448"/>
            <a:ext cx="365760" cy="155448"/>
          </a:xfrm>
          <a:prstGeom prst="roundRect">
            <a:avLst>
              <a:gd fmla="val 50000" name="adj"/>
            </a:avLst>
          </a:prstGeom>
          <a:solidFill>
            <a:srgbClr val="1FA8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52711f7a033259c8_33_0"/>
          <p:cNvSpPr txBox="1"/>
          <p:nvPr/>
        </p:nvSpPr>
        <p:spPr>
          <a:xfrm>
            <a:off x="1371600" y="9244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Coverage ≥ 90%</a:t>
            </a:r>
            <a:endParaRPr/>
          </a:p>
        </p:txBody>
      </p:sp>
      <p:sp>
        <p:nvSpPr>
          <p:cNvPr id="342" name="Google Shape;342;h52711f7a033259c8_33_0"/>
          <p:cNvSpPr/>
          <p:nvPr/>
        </p:nvSpPr>
        <p:spPr>
          <a:xfrm>
            <a:off x="3383280" y="9299448"/>
            <a:ext cx="365760" cy="155448"/>
          </a:xfrm>
          <a:prstGeom prst="roundRect">
            <a:avLst>
              <a:gd fmla="val 50000" name="adj"/>
            </a:avLst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h52711f7a033259c8_33_0"/>
          <p:cNvSpPr txBox="1"/>
          <p:nvPr/>
        </p:nvSpPr>
        <p:spPr>
          <a:xfrm>
            <a:off x="3840480" y="9244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75 – 89%</a:t>
            </a:r>
            <a:endParaRPr/>
          </a:p>
        </p:txBody>
      </p:sp>
      <p:sp>
        <p:nvSpPr>
          <p:cNvPr id="344" name="Google Shape;344;h52711f7a033259c8_33_0"/>
          <p:cNvSpPr/>
          <p:nvPr/>
        </p:nvSpPr>
        <p:spPr>
          <a:xfrm>
            <a:off x="5852160" y="9299448"/>
            <a:ext cx="365760" cy="155448"/>
          </a:xfrm>
          <a:prstGeom prst="roundRect">
            <a:avLst>
              <a:gd fmla="val 50000" name="adj"/>
            </a:avLst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52711f7a033259c8_33_0"/>
          <p:cNvSpPr txBox="1"/>
          <p:nvPr/>
        </p:nvSpPr>
        <p:spPr>
          <a:xfrm>
            <a:off x="6309360" y="9244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&lt; 75%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52711f7a033259c8_1_6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51" name="Google Shape;351;h52711f7a033259c8_1_645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2" name="Google Shape;352;h52711f7a033259c8_1_645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h52711f7a033259c8_1_645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54" name="Google Shape;354;h52711f7a033259c8_1_645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h52711f7a033259c8_1_645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h52711f7a033259c8_1_645"/>
          <p:cNvSpPr txBox="1"/>
          <p:nvPr/>
        </p:nvSpPr>
        <p:spPr>
          <a:xfrm>
            <a:off x="2249325" y="787300"/>
            <a:ext cx="127062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Holiday: </a:t>
            </a:r>
            <a:r>
              <a:rPr b="1" lang="en-US" sz="32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github.com/nager/Nager.Date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h52711f7a033259c8_1_645" title="Screenshot 2026-10-03 at 21-40-34 Bug Unhandled 500 Internal Server Error on _api_v4_Holidays_{countryCode}_Next for invalid country codes · Issue #1148 · nager_Nager.Dat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5512" y="1861300"/>
            <a:ext cx="8094773" cy="73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h52711f7a033259c8_1_645" title="Screenshot 2026-10-03 at 21-41-49 Bug Unhandled 500 Internal Server Error on _api_v4_Holidays_{countryCode}_Next for invalid country codes · Issue #1148 · nager_Nager.Dat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12325" y="2173150"/>
            <a:ext cx="8872899" cy="671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52711f7a033259c8_1_69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64" name="Google Shape;364;h52711f7a033259c8_1_691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h52711f7a033259c8_1_691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h52711f7a033259c8_1_691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67" name="Google Shape;367;h52711f7a033259c8_1_691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h52711f7a033259c8_1_691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52711f7a033259c8_1_691"/>
          <p:cNvSpPr txBox="1"/>
          <p:nvPr/>
        </p:nvSpPr>
        <p:spPr>
          <a:xfrm>
            <a:off x="2249325" y="787300"/>
            <a:ext cx="127062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Snipe-IT: </a:t>
            </a:r>
            <a:r>
              <a:rPr b="1" lang="en-US" sz="32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github.com/grokability/snipe-it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h52711f7a033259c8_1_691" title="Screenshot 2026-10-03 at 21-28-54 Bug Some API endpoints crash with HTTP 500 on malformed body paue #19537 · grokability_snipe-i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9248" y="1846300"/>
            <a:ext cx="8745102" cy="8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h52711f7a033259c8_1_691" title="Screenshot 2026-10-03 at 21-28-54 Bug Some API endpoints crash with HTTP 500 on malformed body parameter types · Issue #19537 · grokability_snipe-i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163" y="2994488"/>
            <a:ext cx="8553676" cy="581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52711f7a033259c8_1_67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77" name="Google Shape;377;h52711f7a033259c8_1_677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h52711f7a033259c8_1_677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h52711f7a033259c8_1_677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80" name="Google Shape;380;h52711f7a033259c8_1_677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h52711f7a033259c8_1_677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h52711f7a033259c8_1_677"/>
          <p:cNvSpPr txBox="1"/>
          <p:nvPr/>
        </p:nvSpPr>
        <p:spPr>
          <a:xfrm>
            <a:off x="2249325" y="787300"/>
            <a:ext cx="127062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Laravel-blog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32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github.com/guillaumebriday/laravel-blog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h52711f7a033259c8_1_677" title="Screenshot 2026-10-03 at 21-38-01 BUG Malformed limit query param crashes pagination with 500 internal server error · Issue #166 · guillaumebriday_laravel-blo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0937" y="1846300"/>
            <a:ext cx="10362976" cy="8130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52711f7a033259c8_1_66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389" name="Google Shape;389;h52711f7a033259c8_1_66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h52711f7a033259c8_1_66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h52711f7a033259c8_1_660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92" name="Google Shape;392;h52711f7a033259c8_1_66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h52711f7a033259c8_1_660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h52711f7a033259c8_1_660" title="Screenshot 2026-10-03 at 21-17-27 Bug Several PUT endpoints return 500 Internal Server Error for non-existent resource · Issue #140 · FrancisLaboratories_homelogg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9275" y="1906875"/>
            <a:ext cx="12706301" cy="81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h52711f7a033259c8_1_660"/>
          <p:cNvSpPr txBox="1"/>
          <p:nvPr/>
        </p:nvSpPr>
        <p:spPr>
          <a:xfrm>
            <a:off x="2249325" y="787300"/>
            <a:ext cx="127062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HomeLogger: </a:t>
            </a:r>
            <a:r>
              <a:rPr b="1" lang="en-US" sz="32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github.com/FrancisLaboratories/homelogger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52711f7a033259c8_31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4" r="-2204" t="0"/>
            </a:stretch>
          </a:blipFill>
          <a:ln>
            <a:noFill/>
          </a:ln>
        </p:spPr>
      </p:sp>
      <p:sp>
        <p:nvSpPr>
          <p:cNvPr id="401" name="Google Shape;401;h52711f7a033259c8_31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h52711f7a033259c8_31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h52711f7a033259c8_31_0"/>
          <p:cNvSpPr txBox="1"/>
          <p:nvPr/>
        </p:nvSpPr>
        <p:spPr>
          <a:xfrm>
            <a:off x="-3383538" y="614800"/>
            <a:ext cx="1344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Deployment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52711f7a033259c8_31_0"/>
          <p:cNvSpPr/>
          <p:nvPr/>
        </p:nvSpPr>
        <p:spPr>
          <a:xfrm>
            <a:off x="1044000" y="2700000"/>
            <a:ext cx="4400000" cy="24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52711f7a033259c8_31_0"/>
          <p:cNvSpPr/>
          <p:nvPr/>
        </p:nvSpPr>
        <p:spPr>
          <a:xfrm>
            <a:off x="1374000" y="2700000"/>
            <a:ext cx="3740000" cy="70000"/>
          </a:xfrm>
          <a:prstGeom prst="rect">
            <a:avLst/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h52711f7a033259c8_31_0"/>
          <p:cNvSpPr txBox="1"/>
          <p:nvPr/>
        </p:nvSpPr>
        <p:spPr>
          <a:xfrm>
            <a:off x="1044000" y="286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6FC6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FRONTEND</a:t>
            </a:r>
            <a:endParaRPr/>
          </a:p>
        </p:txBody>
      </p:sp>
      <p:pic>
        <p:nvPicPr>
          <p:cNvPr descr="vercel.png" id="407" name="Google Shape;407;h52711f7a033259c8_3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94000" y="326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h52711f7a033259c8_31_0"/>
          <p:cNvSpPr txBox="1"/>
          <p:nvPr/>
        </p:nvSpPr>
        <p:spPr>
          <a:xfrm>
            <a:off x="1044000" y="4260000"/>
            <a:ext cx="4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Vercel</a:t>
            </a:r>
            <a:endParaRPr/>
          </a:p>
        </p:txBody>
      </p:sp>
      <p:sp>
        <p:nvSpPr>
          <p:cNvPr id="409" name="Google Shape;409;h52711f7a033259c8_31_0"/>
          <p:cNvSpPr/>
          <p:nvPr/>
        </p:nvSpPr>
        <p:spPr>
          <a:xfrm>
            <a:off x="6944000" y="2700000"/>
            <a:ext cx="4400000" cy="24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h52711f7a033259c8_31_0"/>
          <p:cNvSpPr/>
          <p:nvPr/>
        </p:nvSpPr>
        <p:spPr>
          <a:xfrm>
            <a:off x="7274000" y="2700000"/>
            <a:ext cx="3740000" cy="70000"/>
          </a:xfrm>
          <a:prstGeom prst="rect">
            <a:avLst/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h52711f7a033259c8_31_0"/>
          <p:cNvSpPr txBox="1"/>
          <p:nvPr/>
        </p:nvSpPr>
        <p:spPr>
          <a:xfrm>
            <a:off x="6944000" y="286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6B1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BACKEND SERVICE</a:t>
            </a:r>
            <a:endParaRPr/>
          </a:p>
        </p:txBody>
      </p:sp>
      <p:pic>
        <p:nvPicPr>
          <p:cNvPr descr="render.png" id="412" name="Google Shape;412;h52711f7a033259c8_3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4000" y="326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h52711f7a033259c8_31_0"/>
          <p:cNvSpPr txBox="1"/>
          <p:nvPr/>
        </p:nvSpPr>
        <p:spPr>
          <a:xfrm>
            <a:off x="6944000" y="4260000"/>
            <a:ext cx="4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Render</a:t>
            </a:r>
            <a:endParaRPr/>
          </a:p>
        </p:txBody>
      </p:sp>
      <p:sp>
        <p:nvSpPr>
          <p:cNvPr id="414" name="Google Shape;414;h52711f7a033259c8_31_0"/>
          <p:cNvSpPr/>
          <p:nvPr/>
        </p:nvSpPr>
        <p:spPr>
          <a:xfrm>
            <a:off x="12844000" y="2700000"/>
            <a:ext cx="4400000" cy="24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h52711f7a033259c8_31_0"/>
          <p:cNvSpPr/>
          <p:nvPr/>
        </p:nvSpPr>
        <p:spPr>
          <a:xfrm>
            <a:off x="13174000" y="2700000"/>
            <a:ext cx="3740000" cy="70000"/>
          </a:xfrm>
          <a:prstGeom prst="rect">
            <a:avLst/>
          </a:prstGeom>
          <a:solidFill>
            <a:srgbClr val="2F6FC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h52711f7a033259c8_31_0"/>
          <p:cNvSpPr txBox="1"/>
          <p:nvPr/>
        </p:nvSpPr>
        <p:spPr>
          <a:xfrm>
            <a:off x="12844000" y="286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6FC6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DATABASE</a:t>
            </a:r>
            <a:endParaRPr/>
          </a:p>
        </p:txBody>
      </p:sp>
      <p:pic>
        <p:nvPicPr>
          <p:cNvPr descr="neon.png" id="417" name="Google Shape;417;h52711f7a033259c8_31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94000" y="326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h52711f7a033259c8_31_0"/>
          <p:cNvSpPr txBox="1"/>
          <p:nvPr/>
        </p:nvSpPr>
        <p:spPr>
          <a:xfrm>
            <a:off x="12844000" y="4260000"/>
            <a:ext cx="4400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Neon </a:t>
            </a: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DB</a:t>
            </a:r>
            <a:endParaRPr/>
          </a:p>
        </p:txBody>
      </p:sp>
      <p:sp>
        <p:nvSpPr>
          <p:cNvPr id="419" name="Google Shape;419;h52711f7a033259c8_31_0"/>
          <p:cNvSpPr/>
          <p:nvPr/>
        </p:nvSpPr>
        <p:spPr>
          <a:xfrm>
            <a:off x="6944000" y="6150000"/>
            <a:ext cx="4400000" cy="24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h52711f7a033259c8_31_0"/>
          <p:cNvSpPr/>
          <p:nvPr/>
        </p:nvSpPr>
        <p:spPr>
          <a:xfrm>
            <a:off x="7274000" y="6150000"/>
            <a:ext cx="3740000" cy="70000"/>
          </a:xfrm>
          <a:prstGeom prst="rect">
            <a:avLst/>
          </a:prstGeom>
          <a:solidFill>
            <a:srgbClr val="D96B1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h52711f7a033259c8_31_0"/>
          <p:cNvSpPr txBox="1"/>
          <p:nvPr/>
        </p:nvSpPr>
        <p:spPr>
          <a:xfrm>
            <a:off x="6944000" y="631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6B1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ENGINE SERVICE</a:t>
            </a:r>
            <a:endParaRPr/>
          </a:p>
        </p:txBody>
      </p:sp>
      <p:pic>
        <p:nvPicPr>
          <p:cNvPr descr="render.png" id="422" name="Google Shape;422;h52711f7a033259c8_31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4000" y="671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h52711f7a033259c8_31_0"/>
          <p:cNvSpPr txBox="1"/>
          <p:nvPr/>
        </p:nvSpPr>
        <p:spPr>
          <a:xfrm>
            <a:off x="6944000" y="7710000"/>
            <a:ext cx="4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Render</a:t>
            </a:r>
            <a:endParaRPr/>
          </a:p>
        </p:txBody>
      </p:sp>
      <p:sp>
        <p:nvSpPr>
          <p:cNvPr id="424" name="Google Shape;424;h52711f7a033259c8_31_0"/>
          <p:cNvSpPr/>
          <p:nvPr/>
        </p:nvSpPr>
        <p:spPr>
          <a:xfrm>
            <a:off x="12844000" y="6150000"/>
            <a:ext cx="4400000" cy="24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5400">
            <a:solidFill>
              <a:srgbClr val="E4EC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h52711f7a033259c8_31_0"/>
          <p:cNvSpPr/>
          <p:nvPr/>
        </p:nvSpPr>
        <p:spPr>
          <a:xfrm>
            <a:off x="13174000" y="6150000"/>
            <a:ext cx="3740000" cy="70000"/>
          </a:xfrm>
          <a:prstGeom prst="rect">
            <a:avLst/>
          </a:prstGeom>
          <a:solidFill>
            <a:srgbClr val="1F497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h52711f7a033259c8_31_0"/>
          <p:cNvSpPr txBox="1"/>
          <p:nvPr/>
        </p:nvSpPr>
        <p:spPr>
          <a:xfrm>
            <a:off x="12844000" y="6310000"/>
            <a:ext cx="4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LLM PROVIDERS</a:t>
            </a:r>
            <a:endParaRPr/>
          </a:p>
        </p:txBody>
      </p:sp>
      <p:pic>
        <p:nvPicPr>
          <p:cNvPr descr="nvidia.png" id="427" name="Google Shape;427;h52711f7a033259c8_31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494000" y="671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h52711f7a033259c8_31_0"/>
          <p:cNvSpPr txBox="1"/>
          <p:nvPr/>
        </p:nvSpPr>
        <p:spPr>
          <a:xfrm>
            <a:off x="12844000" y="7710000"/>
            <a:ext cx="22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NVIDIA NIM</a:t>
            </a:r>
            <a:endParaRPr/>
          </a:p>
        </p:txBody>
      </p:sp>
      <p:pic>
        <p:nvPicPr>
          <p:cNvPr descr="googlegemini.png" id="429" name="Google Shape;429;h52711f7a033259c8_31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694000" y="6710000"/>
            <a:ext cx="90000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h52711f7a033259c8_31_0"/>
          <p:cNvSpPr txBox="1"/>
          <p:nvPr/>
        </p:nvSpPr>
        <p:spPr>
          <a:xfrm>
            <a:off x="15044000" y="7710000"/>
            <a:ext cx="22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Google Gemini</a:t>
            </a:r>
            <a:endParaRPr/>
          </a:p>
        </p:txBody>
      </p:sp>
      <p:cxnSp>
        <p:nvCxnSpPr>
          <p:cNvPr id="431" name="Google Shape;431;h52711f7a033259c8_31_0"/>
          <p:cNvCxnSpPr/>
          <p:nvPr/>
        </p:nvCxnSpPr>
        <p:spPr>
          <a:xfrm>
            <a:off x="5444000" y="3900000"/>
            <a:ext cx="1500000" cy="0"/>
          </a:xfrm>
          <a:prstGeom prst="straightConnector1">
            <a:avLst/>
          </a:prstGeom>
          <a:noFill/>
          <a:ln cap="flat" cmpd="sng" w="44450">
            <a:solidFill>
              <a:srgbClr val="2F6FC6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2" name="Google Shape;432;h52711f7a033259c8_31_0"/>
          <p:cNvSpPr txBox="1"/>
          <p:nvPr/>
        </p:nvSpPr>
        <p:spPr>
          <a:xfrm>
            <a:off x="5444000" y="3480000"/>
            <a:ext cx="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REST API</a:t>
            </a:r>
            <a:endParaRPr/>
          </a:p>
        </p:txBody>
      </p:sp>
      <p:cxnSp>
        <p:nvCxnSpPr>
          <p:cNvPr id="433" name="Google Shape;433;h52711f7a033259c8_31_0"/>
          <p:cNvCxnSpPr/>
          <p:nvPr/>
        </p:nvCxnSpPr>
        <p:spPr>
          <a:xfrm>
            <a:off x="11344000" y="3900000"/>
            <a:ext cx="1500000" cy="0"/>
          </a:xfrm>
          <a:prstGeom prst="straightConnector1">
            <a:avLst/>
          </a:prstGeom>
          <a:noFill/>
          <a:ln cap="flat" cmpd="sng" w="44450">
            <a:solidFill>
              <a:srgbClr val="2F6FC6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4" name="Google Shape;434;h52711f7a033259c8_31_0"/>
          <p:cNvSpPr txBox="1"/>
          <p:nvPr/>
        </p:nvSpPr>
        <p:spPr>
          <a:xfrm>
            <a:off x="11344000" y="3480000"/>
            <a:ext cx="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SQL</a:t>
            </a:r>
            <a:endParaRPr/>
          </a:p>
        </p:txBody>
      </p:sp>
      <p:cxnSp>
        <p:nvCxnSpPr>
          <p:cNvPr id="435" name="Google Shape;435;h52711f7a033259c8_31_0"/>
          <p:cNvCxnSpPr/>
          <p:nvPr/>
        </p:nvCxnSpPr>
        <p:spPr>
          <a:xfrm>
            <a:off x="9144000" y="5100000"/>
            <a:ext cx="0" cy="1050000"/>
          </a:xfrm>
          <a:prstGeom prst="straightConnector1">
            <a:avLst/>
          </a:prstGeom>
          <a:noFill/>
          <a:ln cap="flat" cmpd="sng" w="44450">
            <a:solidFill>
              <a:srgbClr val="2F6FC6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6" name="Google Shape;436;h52711f7a033259c8_31_0"/>
          <p:cNvSpPr txBox="1"/>
          <p:nvPr/>
        </p:nvSpPr>
        <p:spPr>
          <a:xfrm>
            <a:off x="9294000" y="5430000"/>
            <a:ext cx="18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REST API</a:t>
            </a:r>
            <a:endParaRPr/>
          </a:p>
        </p:txBody>
      </p:sp>
      <p:cxnSp>
        <p:nvCxnSpPr>
          <p:cNvPr id="437" name="Google Shape;437;h52711f7a033259c8_31_0"/>
          <p:cNvCxnSpPr/>
          <p:nvPr/>
        </p:nvCxnSpPr>
        <p:spPr>
          <a:xfrm>
            <a:off x="11344000" y="7350000"/>
            <a:ext cx="1500000" cy="0"/>
          </a:xfrm>
          <a:prstGeom prst="straightConnector1">
            <a:avLst/>
          </a:prstGeom>
          <a:noFill/>
          <a:ln cap="flat" cmpd="sng" w="44450">
            <a:solidFill>
              <a:srgbClr val="2F6FC6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8" name="Google Shape;438;h52711f7a033259c8_31_0"/>
          <p:cNvSpPr txBox="1"/>
          <p:nvPr/>
        </p:nvSpPr>
        <p:spPr>
          <a:xfrm>
            <a:off x="11344000" y="6930000"/>
            <a:ext cx="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D6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LLM API</a:t>
            </a:r>
            <a:endParaRPr/>
          </a:p>
        </p:txBody>
      </p:sp>
      <p:sp>
        <p:nvSpPr>
          <p:cNvPr id="439" name="Google Shape;439;h52711f7a033259c8_31_0">
            <a:hlinkClick r:id="rId11"/>
          </p:cNvPr>
          <p:cNvSpPr/>
          <p:nvPr/>
        </p:nvSpPr>
        <p:spPr>
          <a:xfrm>
            <a:off x="1044000" y="6150000"/>
            <a:ext cx="4400000" cy="2400000"/>
          </a:xfrm>
          <a:prstGeom prst="roundRect">
            <a:avLst>
              <a:gd fmla="val 8000" name="adj"/>
            </a:avLst>
          </a:prstGeom>
          <a:gradFill>
            <a:gsLst>
              <a:gs pos="0">
                <a:srgbClr val="1F497D"/>
              </a:gs>
              <a:gs pos="100000">
                <a:srgbClr val="2F6FC6"/>
              </a:gs>
            </a:gsLst>
            <a:lin ang="19499999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h52711f7a033259c8_31_0"/>
          <p:cNvSpPr/>
          <p:nvPr/>
        </p:nvSpPr>
        <p:spPr>
          <a:xfrm>
            <a:off x="1344000" y="6430000"/>
            <a:ext cx="900000" cy="900000"/>
          </a:xfrm>
          <a:prstGeom prst="ellipse">
            <a:avLst/>
          </a:prstGeom>
          <a:solidFill>
            <a:srgbClr val="FFFFFF">
              <a:alpha val="21961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.png" id="441" name="Google Shape;441;h52711f7a033259c8_31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84000" y="6570000"/>
            <a:ext cx="620000" cy="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h52711f7a033259c8_31_0"/>
          <p:cNvSpPr/>
          <p:nvPr/>
        </p:nvSpPr>
        <p:spPr>
          <a:xfrm>
            <a:off x="3944000" y="6580000"/>
            <a:ext cx="1200000" cy="43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h52711f7a033259c8_31_0"/>
          <p:cNvSpPr/>
          <p:nvPr/>
        </p:nvSpPr>
        <p:spPr>
          <a:xfrm>
            <a:off x="4064000" y="6710000"/>
            <a:ext cx="170000" cy="170000"/>
          </a:xfrm>
          <a:prstGeom prst="ellipse">
            <a:avLst/>
          </a:prstGeom>
          <a:solidFill>
            <a:srgbClr val="1FB84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52711f7a033259c8_31_0"/>
          <p:cNvSpPr txBox="1"/>
          <p:nvPr/>
        </p:nvSpPr>
        <p:spPr>
          <a:xfrm>
            <a:off x="4294000" y="6580000"/>
            <a:ext cx="80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LIVE</a:t>
            </a:r>
            <a:endParaRPr/>
          </a:p>
        </p:txBody>
      </p:sp>
      <p:sp>
        <p:nvSpPr>
          <p:cNvPr id="445" name="Google Shape;445;h52711f7a033259c8_31_0"/>
          <p:cNvSpPr txBox="1"/>
          <p:nvPr/>
        </p:nvSpPr>
        <p:spPr>
          <a:xfrm>
            <a:off x="2394000" y="6550000"/>
            <a:ext cx="19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4ECF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PUBLIC URL</a:t>
            </a:r>
            <a:endParaRPr/>
          </a:p>
        </p:txBody>
      </p:sp>
      <p:sp>
        <p:nvSpPr>
          <p:cNvPr id="446" name="Google Shape;446;h52711f7a033259c8_31_0">
            <a:hlinkClick r:id="rId13"/>
          </p:cNvPr>
          <p:cNvSpPr/>
          <p:nvPr/>
        </p:nvSpPr>
        <p:spPr>
          <a:xfrm>
            <a:off x="1344000" y="7530000"/>
            <a:ext cx="3800000" cy="70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h52711f7a033259c8_31_0"/>
          <p:cNvSpPr txBox="1"/>
          <p:nvPr/>
        </p:nvSpPr>
        <p:spPr>
          <a:xfrm>
            <a:off x="1343950" y="7710650"/>
            <a:ext cx="38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cap="none" strike="noStrike">
                <a:solidFill>
                  <a:schemeClr val="hlink"/>
                </a:solidFill>
                <a:uFill>
                  <a:noFill/>
                </a:uFill>
                <a:latin typeface="Merriweather Sans"/>
                <a:ea typeface="Merriweather Sans"/>
                <a:cs typeface="Merriweather Sans"/>
                <a:sym typeface="Merriweather Sans"/>
                <a:hlinkClick r:id="rId14"/>
              </a:rPr>
              <a:t>autoresttest.vercel.app</a:t>
            </a:r>
            <a:endParaRPr/>
          </a:p>
        </p:txBody>
      </p:sp>
      <p:cxnSp>
        <p:nvCxnSpPr>
          <p:cNvPr id="448" name="Google Shape;448;h52711f7a033259c8_31_0"/>
          <p:cNvCxnSpPr/>
          <p:nvPr/>
        </p:nvCxnSpPr>
        <p:spPr>
          <a:xfrm rot="10800000">
            <a:off x="3244000" y="5100000"/>
            <a:ext cx="0" cy="1050000"/>
          </a:xfrm>
          <a:prstGeom prst="straightConnector1">
            <a:avLst/>
          </a:prstGeom>
          <a:noFill/>
          <a:ln cap="flat" cmpd="sng" w="44450">
            <a:solidFill>
              <a:srgbClr val="2F6FC6"/>
            </a:solidFill>
            <a:prstDash val="solid"/>
            <a:round/>
            <a:headEnd len="sm" w="sm" type="none"/>
            <a:tailEnd len="lg" w="lg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52711f7a033259c8_1_724"/>
          <p:cNvSpPr/>
          <p:nvPr/>
        </p:nvSpPr>
        <p:spPr>
          <a:xfrm>
            <a:off x="5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54" name="Google Shape;454;h52711f7a033259c8_1_724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h52711f7a033259c8_1_724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h52711f7a033259c8_1_724"/>
          <p:cNvSpPr txBox="1"/>
          <p:nvPr/>
        </p:nvSpPr>
        <p:spPr>
          <a:xfrm>
            <a:off x="1696875" y="1213263"/>
            <a:ext cx="14754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Demonstration</a:t>
            </a:r>
            <a:endParaRPr b="0" i="0" sz="9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57" name="Google Shape;457;h52711f7a033259c8_1_724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h52711f7a033259c8_1_724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h52711f7a033259c8_1_724">
            <a:hlinkClick r:id="rId6"/>
          </p:cNvPr>
          <p:cNvSpPr/>
          <p:nvPr/>
        </p:nvSpPr>
        <p:spPr>
          <a:xfrm>
            <a:off x="4622325" y="4065300"/>
            <a:ext cx="8903100" cy="4856100"/>
          </a:xfrm>
          <a:prstGeom prst="roundRect">
            <a:avLst>
              <a:gd fmla="val 8000" name="adj"/>
            </a:avLst>
          </a:prstGeom>
          <a:gradFill>
            <a:gsLst>
              <a:gs pos="0">
                <a:srgbClr val="1F497D"/>
              </a:gs>
              <a:gs pos="100000">
                <a:srgbClr val="2F6FC6"/>
              </a:gs>
            </a:gsLst>
            <a:lin ang="19499931" scaled="0"/>
          </a:gradFill>
          <a:ln>
            <a:noFill/>
          </a:ln>
          <a:effectLst>
            <a:outerShdw blurRad="80934" rotWithShape="0" dir="5400000" dist="46537">
              <a:srgbClr val="000000">
                <a:alpha val="34900"/>
              </a:srgbClr>
            </a:outerShdw>
          </a:effectLst>
        </p:spPr>
        <p:txBody>
          <a:bodyPr anchorCtr="0" anchor="ctr" bIns="92450" lIns="185000" spcFirstLastPara="1" rIns="185000" wrap="square" tIns="9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52711f7a033259c8_1_724"/>
          <p:cNvSpPr/>
          <p:nvPr/>
        </p:nvSpPr>
        <p:spPr>
          <a:xfrm>
            <a:off x="5229332" y="4631840"/>
            <a:ext cx="1821000" cy="1821000"/>
          </a:xfrm>
          <a:prstGeom prst="ellipse">
            <a:avLst/>
          </a:prstGeom>
          <a:solidFill>
            <a:srgbClr val="FFFFFF">
              <a:alpha val="21960"/>
            </a:srgbClr>
          </a:solidFill>
          <a:ln>
            <a:noFill/>
          </a:ln>
          <a:effectLst>
            <a:outerShdw blurRad="80934" rotWithShape="0" dir="5400000" dist="46537">
              <a:srgbClr val="000000">
                <a:alpha val="34900"/>
              </a:srgbClr>
            </a:outerShdw>
          </a:effectLst>
        </p:spPr>
        <p:txBody>
          <a:bodyPr anchorCtr="0" anchor="ctr" bIns="92450" lIns="185000" spcFirstLastPara="1" rIns="185000" wrap="square" tIns="9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lobe.png" id="461" name="Google Shape;461;h52711f7a033259c8_1_7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2601" y="4915110"/>
            <a:ext cx="1254481" cy="125448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h52711f7a033259c8_1_724"/>
          <p:cNvSpPr/>
          <p:nvPr/>
        </p:nvSpPr>
        <p:spPr>
          <a:xfrm>
            <a:off x="10490055" y="4935343"/>
            <a:ext cx="2427900" cy="869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80934" rotWithShape="0" dir="5400000" dist="46537">
              <a:srgbClr val="000000">
                <a:alpha val="34900"/>
              </a:srgbClr>
            </a:outerShdw>
          </a:effectLst>
        </p:spPr>
        <p:txBody>
          <a:bodyPr anchorCtr="0" anchor="ctr" bIns="92450" lIns="185000" spcFirstLastPara="1" rIns="185000" wrap="square" tIns="9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h52711f7a033259c8_1_724"/>
          <p:cNvSpPr/>
          <p:nvPr/>
        </p:nvSpPr>
        <p:spPr>
          <a:xfrm>
            <a:off x="10732857" y="5198380"/>
            <a:ext cx="344100" cy="344100"/>
          </a:xfrm>
          <a:prstGeom prst="ellipse">
            <a:avLst/>
          </a:prstGeom>
          <a:solidFill>
            <a:srgbClr val="1FB84F"/>
          </a:solidFill>
          <a:ln>
            <a:noFill/>
          </a:ln>
          <a:effectLst>
            <a:outerShdw blurRad="80934" rotWithShape="0" dir="5400000" dist="46537">
              <a:srgbClr val="000000">
                <a:alpha val="34900"/>
              </a:srgbClr>
            </a:outerShdw>
          </a:effectLst>
        </p:spPr>
        <p:txBody>
          <a:bodyPr anchorCtr="0" anchor="ctr" bIns="92450" lIns="185000" spcFirstLastPara="1" rIns="185000" wrap="square" tIns="9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h52711f7a033259c8_1_724"/>
          <p:cNvSpPr txBox="1"/>
          <p:nvPr/>
        </p:nvSpPr>
        <p:spPr>
          <a:xfrm>
            <a:off x="11198054" y="5136643"/>
            <a:ext cx="16191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35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LIVE</a:t>
            </a:r>
            <a:endParaRPr sz="2833"/>
          </a:p>
        </p:txBody>
      </p:sp>
      <p:sp>
        <p:nvSpPr>
          <p:cNvPr id="465" name="Google Shape;465;h52711f7a033259c8_1_724"/>
          <p:cNvSpPr txBox="1"/>
          <p:nvPr/>
        </p:nvSpPr>
        <p:spPr>
          <a:xfrm>
            <a:off x="7202092" y="5148505"/>
            <a:ext cx="38442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40" u="none" cap="none" strike="noStrike">
                <a:solidFill>
                  <a:srgbClr val="E4ECF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PUBLIC URL</a:t>
            </a:r>
            <a:endParaRPr sz="2833"/>
          </a:p>
        </p:txBody>
      </p:sp>
      <p:sp>
        <p:nvSpPr>
          <p:cNvPr id="466" name="Google Shape;466;h52711f7a033259c8_1_724">
            <a:hlinkClick r:id="rId8"/>
          </p:cNvPr>
          <p:cNvSpPr/>
          <p:nvPr/>
        </p:nvSpPr>
        <p:spPr>
          <a:xfrm>
            <a:off x="5229332" y="6857532"/>
            <a:ext cx="7688700" cy="141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80934" rotWithShape="0" dir="5400000" dist="46537">
              <a:srgbClr val="000000">
                <a:alpha val="34900"/>
              </a:srgbClr>
            </a:outerShdw>
          </a:effectLst>
        </p:spPr>
        <p:txBody>
          <a:bodyPr anchorCtr="0" anchor="ctr" bIns="92450" lIns="185000" spcFirstLastPara="1" rIns="185000" wrap="square" tIns="9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h52711f7a033259c8_1_724"/>
          <p:cNvSpPr txBox="1"/>
          <p:nvPr/>
        </p:nvSpPr>
        <p:spPr>
          <a:xfrm>
            <a:off x="5229230" y="7223052"/>
            <a:ext cx="76887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51" cap="none" strike="noStrike">
                <a:solidFill>
                  <a:schemeClr val="hlink"/>
                </a:solidFill>
                <a:uFill>
                  <a:noFill/>
                </a:uFill>
                <a:latin typeface="Merriweather Sans"/>
                <a:ea typeface="Merriweather Sans"/>
                <a:cs typeface="Merriweather Sans"/>
                <a:sym typeface="Merriweather Sans"/>
                <a:hlinkClick r:id="rId9"/>
              </a:rPr>
              <a:t>autoresttest.vercel.app</a:t>
            </a:r>
            <a:endParaRPr sz="2833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74cd84855e23f31a_1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0" r="-2210" t="0"/>
            </a:stretch>
          </a:blipFill>
          <a:ln>
            <a:noFill/>
          </a:ln>
        </p:spPr>
      </p:sp>
      <p:sp>
        <p:nvSpPr>
          <p:cNvPr id="473" name="Google Shape;473;h74cd84855e23f31a_1_0"/>
          <p:cNvSpPr/>
          <p:nvPr/>
        </p:nvSpPr>
        <p:spPr>
          <a:xfrm>
            <a:off x="-1584626" y="-740607"/>
            <a:ext cx="5226651" cy="4114800"/>
          </a:xfrm>
          <a:custGeom>
            <a:rect b="b" l="l" r="r" t="t"/>
            <a:pathLst>
              <a:path extrusionOk="0"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4" name="Google Shape;474;h74cd84855e23f31a_1_0"/>
          <p:cNvSpPr/>
          <p:nvPr/>
        </p:nvSpPr>
        <p:spPr>
          <a:xfrm>
            <a:off x="15729343" y="-740607"/>
            <a:ext cx="3059915" cy="4114800"/>
          </a:xfrm>
          <a:custGeom>
            <a:rect b="b" l="l" r="r" t="t"/>
            <a:pathLst>
              <a:path extrusionOk="0"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5" name="Google Shape;475;h74cd84855e23f31a_1_0"/>
          <p:cNvSpPr txBox="1"/>
          <p:nvPr/>
        </p:nvSpPr>
        <p:spPr>
          <a:xfrm>
            <a:off x="-163150" y="650900"/>
            <a:ext cx="56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68"/>
              <a:buFont typeface="Arial"/>
              <a:buNone/>
            </a:pPr>
            <a:r>
              <a:rPr lang="en-US" sz="3600">
                <a:latin typeface="Merriweather Sans"/>
                <a:ea typeface="Merriweather Sans"/>
                <a:cs typeface="Merriweather Sans"/>
                <a:sym typeface="Merriweather Sans"/>
              </a:rPr>
              <a:t>References</a:t>
            </a:r>
            <a:endParaRPr sz="3600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76" name="Google Shape;476;h74cd84855e23f31a_1_0"/>
          <p:cNvSpPr txBox="1"/>
          <p:nvPr/>
        </p:nvSpPr>
        <p:spPr>
          <a:xfrm>
            <a:off x="9139238" y="4236136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43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h74cd84855e23f31a_1_0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h74cd84855e23f31a_1_0"/>
          <p:cNvSpPr txBox="1"/>
          <p:nvPr/>
        </p:nvSpPr>
        <p:spPr>
          <a:xfrm>
            <a:off x="2630200" y="2597700"/>
            <a:ext cx="133476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Github Repository:</a:t>
            </a:r>
            <a:r>
              <a:rPr lang="en-US" sz="2800" u="sng">
                <a:solidFill>
                  <a:schemeClr val="hlink"/>
                </a:solidFill>
              </a:rPr>
              <a:t> </a:t>
            </a:r>
            <a:r>
              <a:rPr lang="en-US" sz="2800" u="sng">
                <a:solidFill>
                  <a:schemeClr val="hlink"/>
                </a:solidFill>
                <a:hlinkClick r:id="rId6"/>
              </a:rPr>
              <a:t>https://github.com/CodeWithIsmail/AutoRestTest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Mid Presentation: </a:t>
            </a:r>
            <a:r>
              <a:rPr lang="en-US" sz="2800" u="sng">
                <a:solidFill>
                  <a:schemeClr val="hlink"/>
                </a:solidFill>
                <a:hlinkClick r:id="rId7"/>
              </a:rPr>
              <a:t>https://docs.google.com/presentation/d/1a5YdaNx8cxYphxiUQ-I-3NPXjf6xh7-W/edit?usp=sharing&amp;ouid=106339911626160544503&amp;rtpof=true&amp;sd=true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Proposal Presentation: 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hlinkClick r:id="rId8"/>
              </a:rPr>
              <a:t>https://docs.google.com/presentation/d/1J23ATRQ7J8jLjVxXMxO6MJ6h6e8ZmXZn/edit?usp=sharing&amp;ouid=115068811724755054134&amp;rtpof=true&amp;sd=true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AutoRestTest Paper: </a:t>
            </a:r>
            <a:r>
              <a:rPr lang="en-US" sz="2800" u="sng">
                <a:solidFill>
                  <a:schemeClr val="hlink"/>
                </a:solidFill>
                <a:hlinkClick r:id="rId9"/>
              </a:rPr>
              <a:t>https://arxiv.org/abs/2411.07098v2 </a:t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/>
              <a:t>OOPS Paper: </a:t>
            </a:r>
            <a:r>
              <a:rPr lang="en-US" sz="2800" u="sng">
                <a:solidFill>
                  <a:schemeClr val="hlink"/>
                </a:solidFill>
                <a:hlinkClick r:id="rId10"/>
              </a:rPr>
              <a:t>https://arxiv.org/abs/2601.12735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