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7" r:id="rId7"/>
  </p:sldIdLst>
  <p:sldSz cy="10287000" cx="18288000"/>
  <p:notesSz cx="6858000" cy="9144000"/>
  <p:embeddedFontLst>
    <p:embeddedFont>
      <p:font typeface="Merriweather Sans"/>
      <p:regular r:id="rId40"/>
      <p:bold r:id="rId41"/>
      <p:italic r:id="rId42"/>
      <p:boldItalic r:id="rId43"/>
    </p:embeddedFont>
    <p:embeddedFont>
      <p:font typeface="Monda"/>
      <p:regular r:id="rId44"/>
      <p:bold r:id="rId45"/>
    </p:embeddedFont>
    <p:embeddedFont>
      <p:font typeface="Quattrocento Sans"/>
      <p:regular r:id="rId46"/>
      <p:bold r:id="rId47"/>
      <p:italic r:id="rId48"/>
      <p:boldItalic r:id="rId49"/>
    </p:embeddedFont>
    <p:embeddedFont>
      <p:font typeface="Poppins SemiBold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4" roundtripDataSignature="AMtx7mjLDAt+j/Y+K1NEIGKldfqW6V0f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40" Type="http://schemas.openxmlformats.org/officeDocument/2006/relationships/font" Target="fonts/MerriweatherSans-regular.fntdata"/><Relationship Id="rId41" Type="http://schemas.openxmlformats.org/officeDocument/2006/relationships/font" Target="fonts/MerriweatherSans-bold.fntdata"/><Relationship Id="rId42" Type="http://schemas.openxmlformats.org/officeDocument/2006/relationships/font" Target="fonts/MerriweatherSans-italic.fntdata"/><Relationship Id="rId43" Type="http://schemas.openxmlformats.org/officeDocument/2006/relationships/font" Target="fonts/MerriweatherSans-boldItalic.fntdata"/><Relationship Id="rId44" Type="http://schemas.openxmlformats.org/officeDocument/2006/relationships/font" Target="fonts/Monda-regular.fntdata"/><Relationship Id="rId45" Type="http://schemas.openxmlformats.org/officeDocument/2006/relationships/font" Target="fonts/Monda-bold.fntdata"/><Relationship Id="rId46" Type="http://schemas.openxmlformats.org/officeDocument/2006/relationships/font" Target="fonts/QuattrocentoSans-regular.fntdata"/><Relationship Id="rId47" Type="http://schemas.openxmlformats.org/officeDocument/2006/relationships/font" Target="fonts/QuattrocentoSans-bold.fntdata"/><Relationship Id="rId48" Type="http://schemas.openxmlformats.org/officeDocument/2006/relationships/font" Target="fonts/QuattrocentoSans-italic.fntdata"/><Relationship Id="rId49" Type="http://schemas.openxmlformats.org/officeDocument/2006/relationships/font" Target="fonts/QuattrocentoSans-boldItalic.fntdata"/><Relationship Id="rId50" Type="http://schemas.openxmlformats.org/officeDocument/2006/relationships/font" Target="fonts/PoppinsSemiBold-regular.fntdata"/><Relationship Id="rId51" Type="http://schemas.openxmlformats.org/officeDocument/2006/relationships/font" Target="fonts/PoppinsSemiBold-bold.fntdata"/><Relationship Id="rId52" Type="http://schemas.openxmlformats.org/officeDocument/2006/relationships/font" Target="fonts/PoppinsSemiBold-italic.fntdata"/><Relationship Id="rId53" Type="http://schemas.openxmlformats.org/officeDocument/2006/relationships/font" Target="fonts/PoppinsSemiBold-boldItalic.fntdata"/><Relationship Id="rId5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622ba911e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f622ba911e_4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22ba911e_4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4" r="-2204" t="0"/>
            </a:stretch>
          </a:blipFill>
          <a:ln>
            <a:noFill/>
          </a:ln>
        </p:spPr>
      </p:sp>
      <p:sp>
        <p:nvSpPr>
          <p:cNvPr id="97" name="Google Shape;97;g3f622ba911e_4_0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g3f622ba911e_4_0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g3f622ba911e_4_0"/>
          <p:cNvSpPr txBox="1"/>
          <p:nvPr/>
        </p:nvSpPr>
        <p:spPr>
          <a:xfrm>
            <a:off x="-3383538" y="614800"/>
            <a:ext cx="1344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Real-World Evaluation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914400" y="1645920"/>
            <a:ext cx="25755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143000" y="1645920"/>
            <a:ext cx="2118360" cy="54864"/>
          </a:xfrm>
          <a:prstGeom prst="rect">
            <a:avLst/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4400" y="1755648"/>
            <a:ext cx="2575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2F6FC6"/>
                </a:solidFill>
                <a:latin typeface="Merriweather Sans"/>
              </a:rPr>
              <a:t>15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14400" y="2267712"/>
            <a:ext cx="25755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35D6B"/>
                </a:solidFill>
                <a:latin typeface="Merriweather Sans"/>
              </a:rPr>
              <a:t>REAL-WORLD APIs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691128" y="1645920"/>
            <a:ext cx="25755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919728" y="1645920"/>
            <a:ext cx="2118360" cy="54864"/>
          </a:xfrm>
          <a:prstGeom prst="rect">
            <a:avLst/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691128" y="1755648"/>
            <a:ext cx="2575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2F6FC6"/>
                </a:solidFill>
                <a:latin typeface="Merriweather Sans"/>
              </a:rPr>
              <a:t>581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691128" y="2267712"/>
            <a:ext cx="25755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35D6B"/>
                </a:solidFill>
                <a:latin typeface="Merriweather Sans"/>
              </a:rPr>
              <a:t>TOTAL ENDPOINTS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467856" y="1645920"/>
            <a:ext cx="25755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696456" y="1645920"/>
            <a:ext cx="2118360" cy="54864"/>
          </a:xfrm>
          <a:prstGeom prst="rect">
            <a:avLst/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467856" y="1755648"/>
            <a:ext cx="2575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1FA857"/>
                </a:solidFill>
                <a:latin typeface="Merriweather Sans"/>
              </a:rPr>
              <a:t>88.5%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67856" y="2267712"/>
            <a:ext cx="25755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35D6B"/>
                </a:solidFill>
                <a:latin typeface="Merriweather Sans"/>
              </a:rPr>
              <a:t>AVG. COVERAGE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244584" y="1645920"/>
            <a:ext cx="25755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473184" y="1645920"/>
            <a:ext cx="2118360" cy="54864"/>
          </a:xfrm>
          <a:prstGeom prst="rect">
            <a:avLst/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244584" y="1755648"/>
            <a:ext cx="2575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2F6FC6"/>
                </a:solidFill>
                <a:latin typeface="Merriweather Sans"/>
              </a:rPr>
              <a:t>21,694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244584" y="2267712"/>
            <a:ext cx="25755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35D6B"/>
                </a:solidFill>
                <a:latin typeface="Merriweather Sans"/>
              </a:rPr>
              <a:t>REQUESTS SENT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2021312" y="1645920"/>
            <a:ext cx="25755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2249912" y="1645920"/>
            <a:ext cx="2118360" cy="54864"/>
          </a:xfrm>
          <a:prstGeom prst="rect">
            <a:avLst/>
          </a:prstGeom>
          <a:solidFill>
            <a:srgbClr val="D96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2021312" y="1755648"/>
            <a:ext cx="2575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D96B13"/>
                </a:solidFill>
                <a:latin typeface="Merriweather Sans"/>
              </a:rPr>
              <a:t>396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2021312" y="2267712"/>
            <a:ext cx="25755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35D6B"/>
                </a:solidFill>
                <a:latin typeface="Merriweather Sans"/>
              </a:rPr>
              <a:t>SERVER ERRORS (5xx)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4798040" y="1645920"/>
            <a:ext cx="25755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5026640" y="1645920"/>
            <a:ext cx="211836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4798040" y="1755648"/>
            <a:ext cx="2575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C0392B"/>
                </a:solidFill>
                <a:latin typeface="Merriweather Sans"/>
              </a:rPr>
              <a:t>63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4798040" y="2267712"/>
            <a:ext cx="25755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35D6B"/>
                </a:solidFill>
                <a:latin typeface="Merriweather Sans"/>
              </a:rPr>
              <a:t>FAULTY ENDPOINTS</a:t>
            </a:r>
          </a:p>
        </p:txBody>
      </p:sp>
      <p:graphicFrame>
        <p:nvGraphicFramePr>
          <p:cNvPr id="124" name="Table 123"/>
          <p:cNvGraphicFramePr>
            <a:graphicFrameLocks noGrp="1"/>
          </p:cNvGraphicFramePr>
          <p:nvPr/>
        </p:nvGraphicFramePr>
        <p:xfrm>
          <a:off x="914400" y="2926080"/>
          <a:ext cx="16459200" cy="60441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0080"/>
                <a:gridCol w="3657600"/>
                <a:gridCol w="1645920"/>
                <a:gridCol w="3931920"/>
                <a:gridCol w="1554480"/>
                <a:gridCol w="1645920"/>
                <a:gridCol w="1554480"/>
                <a:gridCol w="182880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erriweather Sans"/>
                        </a:rPr>
                        <a:t>#</a:t>
                      </a:r>
                    </a:p>
                  </a:txBody>
                  <a:tcPr marL="109728" marR="109728" marT="0" marB="0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rriweather Sans"/>
                        </a:rPr>
                        <a:t>API Project</a:t>
                      </a:r>
                    </a:p>
                  </a:txBody>
                  <a:tcPr marL="109728" marR="109728" marT="0" marB="0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erriweather Sans"/>
                        </a:rPr>
                        <a:t>Endpoints</a:t>
                      </a:r>
                    </a:p>
                  </a:txBody>
                  <a:tcPr marL="109728" marR="109728" marT="0" marB="0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erriweather Sans"/>
                        </a:rPr>
                        <a:t>Endpoint Coverage</a:t>
                      </a:r>
                    </a:p>
                  </a:txBody>
                  <a:tcPr marL="109728" marR="109728" marT="0" marB="0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erriweather Sans"/>
                        </a:rPr>
                        <a:t>Requests</a:t>
                      </a:r>
                    </a:p>
                  </a:txBody>
                  <a:tcPr marL="109728" marR="109728" marT="0" marB="0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erriweather Sans"/>
                        </a:rPr>
                        <a:t>Success (2xx)</a:t>
                      </a:r>
                    </a:p>
                  </a:txBody>
                  <a:tcPr marL="109728" marR="109728" marT="0" marB="0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erriweather Sans"/>
                        </a:rPr>
                        <a:t>Errors (5xx)</a:t>
                      </a:r>
                    </a:p>
                  </a:txBody>
                  <a:tcPr marL="109728" marR="109728" marT="0" marB="0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erriweather Sans"/>
                        </a:rPr>
                        <a:t>Faulty Endpoints</a:t>
                      </a:r>
                    </a:p>
                  </a:txBody>
                  <a:tcPr marL="109728" marR="109728" marT="0" marB="0" anchor="ctr">
                    <a:solidFill>
                      <a:srgbClr val="1F497D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D6B"/>
                          </a:solidFill>
                          <a:latin typeface="Merriweather Sans"/>
                        </a:rPr>
                        <a:t>1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CycleCalcs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30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100%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1,130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A857"/>
                          </a:solidFill>
                          <a:latin typeface="Merriweather Sans"/>
                        </a:rPr>
                        <a:t>501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0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0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D6B"/>
                          </a:solidFill>
                          <a:latin typeface="Merriweather Sans"/>
                        </a:rPr>
                        <a:t>2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VATcomply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7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100%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468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A857"/>
                          </a:solidFill>
                          <a:latin typeface="Merriweather Sans"/>
                        </a:rPr>
                        <a:t>325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0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0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D6B"/>
                          </a:solidFill>
                          <a:latin typeface="Merriweather Sans"/>
                        </a:rPr>
                        <a:t>3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Holiday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6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100%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611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A857"/>
                          </a:solidFill>
                          <a:latin typeface="Merriweather Sans"/>
                        </a:rPr>
                        <a:t>361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96B13"/>
                          </a:solidFill>
                          <a:latin typeface="Merriweather Sans"/>
                        </a:rPr>
                        <a:t>51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erriweather Sans"/>
                        </a:rPr>
                        <a:t>1</a:t>
                      </a:r>
                    </a:p>
                  </a:txBody>
                  <a:tcPr marL="109728" marR="109728" marT="0" marB="0" anchor="ctr">
                    <a:solidFill>
                      <a:srgbClr val="FDECE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D6B"/>
                          </a:solidFill>
                          <a:latin typeface="Merriweather Sans"/>
                        </a:rPr>
                        <a:t>4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Snipe-IT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145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98%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3,162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A857"/>
                          </a:solidFill>
                          <a:latin typeface="Merriweather Sans"/>
                        </a:rPr>
                        <a:t>2,104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96B13"/>
                          </a:solidFill>
                          <a:latin typeface="Merriweather Sans"/>
                        </a:rPr>
                        <a:t>6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erriweather Sans"/>
                        </a:rPr>
                        <a:t>5</a:t>
                      </a:r>
                    </a:p>
                  </a:txBody>
                  <a:tcPr marL="109728" marR="109728" marT="0" marB="0" anchor="ctr">
                    <a:solidFill>
                      <a:srgbClr val="FDECE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D6B"/>
                          </a:solidFill>
                          <a:latin typeface="Merriweather Sans"/>
                        </a:rPr>
                        <a:t>5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CosmyDay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17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94%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414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A857"/>
                          </a:solidFill>
                          <a:latin typeface="Merriweather Sans"/>
                        </a:rPr>
                        <a:t>249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0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0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D6B"/>
                          </a:solidFill>
                          <a:latin typeface="Merriweather Sans"/>
                        </a:rPr>
                        <a:t>6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ApogeoAPI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46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93%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496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A857"/>
                          </a:solidFill>
                          <a:latin typeface="Merriweather Sans"/>
                        </a:rPr>
                        <a:t>249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96B13"/>
                          </a:solidFill>
                          <a:latin typeface="Merriweather Sans"/>
                        </a:rPr>
                        <a:t>10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erriweather Sans"/>
                        </a:rPr>
                        <a:t>3</a:t>
                      </a:r>
                    </a:p>
                  </a:txBody>
                  <a:tcPr marL="109728" marR="109728" marT="0" marB="0" anchor="ctr">
                    <a:solidFill>
                      <a:srgbClr val="FDECE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D6B"/>
                          </a:solidFill>
                          <a:latin typeface="Merriweather Sans"/>
                        </a:rPr>
                        <a:t>7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HomeLogger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37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92%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2,208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A857"/>
                          </a:solidFill>
                          <a:latin typeface="Merriweather Sans"/>
                        </a:rPr>
                        <a:t>1,134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96B13"/>
                          </a:solidFill>
                          <a:latin typeface="Merriweather Sans"/>
                        </a:rPr>
                        <a:t>94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erriweather Sans"/>
                        </a:rPr>
                        <a:t>4</a:t>
                      </a:r>
                    </a:p>
                  </a:txBody>
                  <a:tcPr marL="109728" marR="109728" marT="0" marB="0" anchor="ctr">
                    <a:solidFill>
                      <a:srgbClr val="FDECE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D6B"/>
                          </a:solidFill>
                          <a:latin typeface="Merriweather Sans"/>
                        </a:rPr>
                        <a:t>8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UK Parliament Members API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43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91%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1,306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A857"/>
                          </a:solidFill>
                          <a:latin typeface="Merriweather Sans"/>
                        </a:rPr>
                        <a:t>590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96B13"/>
                          </a:solidFill>
                          <a:latin typeface="Merriweather Sans"/>
                        </a:rPr>
                        <a:t>35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erriweather Sans"/>
                        </a:rPr>
                        <a:t>1</a:t>
                      </a:r>
                    </a:p>
                  </a:txBody>
                  <a:tcPr marL="109728" marR="109728" marT="0" marB="0" anchor="ctr">
                    <a:solidFill>
                      <a:srgbClr val="FDECE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D6B"/>
                          </a:solidFill>
                          <a:latin typeface="Merriweather Sans"/>
                        </a:rPr>
                        <a:t>9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Laravel Blog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23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91%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2,250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A857"/>
                          </a:solidFill>
                          <a:latin typeface="Merriweather Sans"/>
                        </a:rPr>
                        <a:t>1,235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96B13"/>
                          </a:solidFill>
                          <a:latin typeface="Merriweather Sans"/>
                        </a:rPr>
                        <a:t>10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erriweather Sans"/>
                        </a:rPr>
                        <a:t>4</a:t>
                      </a:r>
                    </a:p>
                  </a:txBody>
                  <a:tcPr marL="109728" marR="109728" marT="0" marB="0" anchor="ctr">
                    <a:solidFill>
                      <a:srgbClr val="FDECE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D6B"/>
                          </a:solidFill>
                          <a:latin typeface="Merriweather Sans"/>
                        </a:rPr>
                        <a:t>10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IUCN Red List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50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88%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894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A857"/>
                          </a:solidFill>
                          <a:latin typeface="Merriweather Sans"/>
                        </a:rPr>
                        <a:t>423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96B13"/>
                          </a:solidFill>
                          <a:latin typeface="Merriweather Sans"/>
                        </a:rPr>
                        <a:t>3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erriweather Sans"/>
                        </a:rPr>
                        <a:t>3</a:t>
                      </a:r>
                    </a:p>
                  </a:txBody>
                  <a:tcPr marL="109728" marR="109728" marT="0" marB="0" anchor="ctr">
                    <a:solidFill>
                      <a:srgbClr val="FDECE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D6B"/>
                          </a:solidFill>
                          <a:latin typeface="Merriweather Sans"/>
                        </a:rPr>
                        <a:t>11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RealWorld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17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88%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949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A857"/>
                          </a:solidFill>
                          <a:latin typeface="Merriweather Sans"/>
                        </a:rPr>
                        <a:t>230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0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0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D6B"/>
                          </a:solidFill>
                          <a:latin typeface="Merriweather Sans"/>
                        </a:rPr>
                        <a:t>12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Grocy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44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82%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1,198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A857"/>
                          </a:solidFill>
                          <a:latin typeface="Merriweather Sans"/>
                        </a:rPr>
                        <a:t>414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96B13"/>
                          </a:solidFill>
                          <a:latin typeface="Merriweather Sans"/>
                        </a:rPr>
                        <a:t>152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erriweather Sans"/>
                        </a:rPr>
                        <a:t>20</a:t>
                      </a:r>
                    </a:p>
                  </a:txBody>
                  <a:tcPr marL="109728" marR="109728" marT="0" marB="0" anchor="ctr">
                    <a:solidFill>
                      <a:srgbClr val="FDECE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D6B"/>
                          </a:solidFill>
                          <a:latin typeface="Merriweather Sans"/>
                        </a:rPr>
                        <a:t>13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UK Parliament Bills API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22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77%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4,912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A857"/>
                          </a:solidFill>
                          <a:latin typeface="Merriweather Sans"/>
                        </a:rPr>
                        <a:t>1,857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96B13"/>
                          </a:solidFill>
                          <a:latin typeface="Merriweather Sans"/>
                        </a:rPr>
                        <a:t>2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erriweather Sans"/>
                        </a:rPr>
                        <a:t>2</a:t>
                      </a:r>
                    </a:p>
                  </a:txBody>
                  <a:tcPr marL="109728" marR="109728" marT="0" marB="0" anchor="ctr">
                    <a:solidFill>
                      <a:srgbClr val="FDECE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D6B"/>
                          </a:solidFill>
                          <a:latin typeface="Merriweather Sans"/>
                        </a:rPr>
                        <a:t>14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CareerStory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18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72%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680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A857"/>
                          </a:solidFill>
                          <a:latin typeface="Merriweather Sans"/>
                        </a:rPr>
                        <a:t>170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96B13"/>
                          </a:solidFill>
                          <a:latin typeface="Merriweather Sans"/>
                        </a:rPr>
                        <a:t>3</a:t>
                      </a:r>
                    </a:p>
                  </a:txBody>
                  <a:tcPr marL="109728" marR="109728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erriweather Sans"/>
                        </a:rPr>
                        <a:t>1</a:t>
                      </a:r>
                    </a:p>
                  </a:txBody>
                  <a:tcPr marL="109728" marR="109728" marT="0" marB="0" anchor="ctr">
                    <a:solidFill>
                      <a:srgbClr val="FDECE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D6B"/>
                          </a:solidFill>
                          <a:latin typeface="Merriweather Sans"/>
                        </a:rPr>
                        <a:t>15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LubeLogger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76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F497D"/>
                          </a:solidFill>
                          <a:latin typeface="Merriweather Sans"/>
                        </a:rPr>
                        <a:t>62%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35D6B"/>
                          </a:solidFill>
                          <a:latin typeface="Merriweather Sans"/>
                        </a:rPr>
                        <a:t>1,016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A857"/>
                          </a:solidFill>
                          <a:latin typeface="Merriweather Sans"/>
                        </a:rPr>
                        <a:t>314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96B13"/>
                          </a:solidFill>
                          <a:latin typeface="Merriweather Sans"/>
                        </a:rPr>
                        <a:t>30</a:t>
                      </a:r>
                    </a:p>
                  </a:txBody>
                  <a:tcPr marL="109728" marR="10972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erriweather Sans"/>
                        </a:rPr>
                        <a:t>19</a:t>
                      </a:r>
                    </a:p>
                  </a:txBody>
                  <a:tcPr marL="109728" marR="109728" marT="0" marB="0" anchor="ctr"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125" name="Rounded Rectangle 124"/>
          <p:cNvSpPr/>
          <p:nvPr/>
        </p:nvSpPr>
        <p:spPr>
          <a:xfrm>
            <a:off x="7040880" y="3456432"/>
            <a:ext cx="2514600" cy="155448"/>
          </a:xfrm>
          <a:prstGeom prst="roundRect">
            <a:avLst>
              <a:gd name="adj" fmla="val 50000"/>
            </a:avLst>
          </a:prstGeom>
          <a:solidFill>
            <a:srgbClr val="E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7040880" y="3456432"/>
            <a:ext cx="2514600" cy="155448"/>
          </a:xfrm>
          <a:prstGeom prst="roundRect">
            <a:avLst>
              <a:gd name="adj" fmla="val 5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7040880" y="3831336"/>
            <a:ext cx="2514600" cy="155448"/>
          </a:xfrm>
          <a:prstGeom prst="roundRect">
            <a:avLst>
              <a:gd name="adj" fmla="val 50000"/>
            </a:avLst>
          </a:prstGeom>
          <a:solidFill>
            <a:srgbClr val="E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7040880" y="3831336"/>
            <a:ext cx="2514600" cy="155448"/>
          </a:xfrm>
          <a:prstGeom prst="roundRect">
            <a:avLst>
              <a:gd name="adj" fmla="val 5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7040880" y="4206240"/>
            <a:ext cx="2514600" cy="155448"/>
          </a:xfrm>
          <a:prstGeom prst="roundRect">
            <a:avLst>
              <a:gd name="adj" fmla="val 50000"/>
            </a:avLst>
          </a:prstGeom>
          <a:solidFill>
            <a:srgbClr val="E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7040880" y="4206240"/>
            <a:ext cx="2514600" cy="155448"/>
          </a:xfrm>
          <a:prstGeom prst="roundRect">
            <a:avLst>
              <a:gd name="adj" fmla="val 5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7040880" y="4581144"/>
            <a:ext cx="2514600" cy="155448"/>
          </a:xfrm>
          <a:prstGeom prst="roundRect">
            <a:avLst>
              <a:gd name="adj" fmla="val 50000"/>
            </a:avLst>
          </a:prstGeom>
          <a:solidFill>
            <a:srgbClr val="E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7040880" y="4581144"/>
            <a:ext cx="2464308" cy="155448"/>
          </a:xfrm>
          <a:prstGeom prst="roundRect">
            <a:avLst>
              <a:gd name="adj" fmla="val 5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7040880" y="4956048"/>
            <a:ext cx="2514600" cy="155448"/>
          </a:xfrm>
          <a:prstGeom prst="roundRect">
            <a:avLst>
              <a:gd name="adj" fmla="val 50000"/>
            </a:avLst>
          </a:prstGeom>
          <a:solidFill>
            <a:srgbClr val="E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7040880" y="4956048"/>
            <a:ext cx="2363724" cy="155448"/>
          </a:xfrm>
          <a:prstGeom prst="roundRect">
            <a:avLst>
              <a:gd name="adj" fmla="val 5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7040880" y="5330952"/>
            <a:ext cx="2514600" cy="155448"/>
          </a:xfrm>
          <a:prstGeom prst="roundRect">
            <a:avLst>
              <a:gd name="adj" fmla="val 50000"/>
            </a:avLst>
          </a:prstGeom>
          <a:solidFill>
            <a:srgbClr val="E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7040880" y="5330952"/>
            <a:ext cx="2338578" cy="155448"/>
          </a:xfrm>
          <a:prstGeom prst="roundRect">
            <a:avLst>
              <a:gd name="adj" fmla="val 5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7040880" y="5705856"/>
            <a:ext cx="2514600" cy="155448"/>
          </a:xfrm>
          <a:prstGeom prst="roundRect">
            <a:avLst>
              <a:gd name="adj" fmla="val 50000"/>
            </a:avLst>
          </a:prstGeom>
          <a:solidFill>
            <a:srgbClr val="E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7040880" y="5705856"/>
            <a:ext cx="2313432" cy="155448"/>
          </a:xfrm>
          <a:prstGeom prst="roundRect">
            <a:avLst>
              <a:gd name="adj" fmla="val 5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7040880" y="6080760"/>
            <a:ext cx="2514600" cy="155448"/>
          </a:xfrm>
          <a:prstGeom prst="roundRect">
            <a:avLst>
              <a:gd name="adj" fmla="val 50000"/>
            </a:avLst>
          </a:prstGeom>
          <a:solidFill>
            <a:srgbClr val="E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7040880" y="6080760"/>
            <a:ext cx="2288286" cy="155448"/>
          </a:xfrm>
          <a:prstGeom prst="roundRect">
            <a:avLst>
              <a:gd name="adj" fmla="val 5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7040880" y="6455664"/>
            <a:ext cx="2514600" cy="155448"/>
          </a:xfrm>
          <a:prstGeom prst="roundRect">
            <a:avLst>
              <a:gd name="adj" fmla="val 50000"/>
            </a:avLst>
          </a:prstGeom>
          <a:solidFill>
            <a:srgbClr val="E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7040880" y="6455664"/>
            <a:ext cx="2288286" cy="155448"/>
          </a:xfrm>
          <a:prstGeom prst="roundRect">
            <a:avLst>
              <a:gd name="adj" fmla="val 5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7040880" y="6830568"/>
            <a:ext cx="2514600" cy="155448"/>
          </a:xfrm>
          <a:prstGeom prst="roundRect">
            <a:avLst>
              <a:gd name="adj" fmla="val 50000"/>
            </a:avLst>
          </a:prstGeom>
          <a:solidFill>
            <a:srgbClr val="E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7040880" y="6830568"/>
            <a:ext cx="2212848" cy="155448"/>
          </a:xfrm>
          <a:prstGeom prst="roundRect">
            <a:avLst>
              <a:gd name="adj" fmla="val 50000"/>
            </a:avLst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7040880" y="7205472"/>
            <a:ext cx="2514600" cy="155448"/>
          </a:xfrm>
          <a:prstGeom prst="roundRect">
            <a:avLst>
              <a:gd name="adj" fmla="val 50000"/>
            </a:avLst>
          </a:prstGeom>
          <a:solidFill>
            <a:srgbClr val="E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7040880" y="7205472"/>
            <a:ext cx="2212848" cy="155448"/>
          </a:xfrm>
          <a:prstGeom prst="roundRect">
            <a:avLst>
              <a:gd name="adj" fmla="val 50000"/>
            </a:avLst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7040880" y="7580376"/>
            <a:ext cx="2514600" cy="155448"/>
          </a:xfrm>
          <a:prstGeom prst="roundRect">
            <a:avLst>
              <a:gd name="adj" fmla="val 50000"/>
            </a:avLst>
          </a:prstGeom>
          <a:solidFill>
            <a:srgbClr val="E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7040880" y="7580376"/>
            <a:ext cx="2061972" cy="155448"/>
          </a:xfrm>
          <a:prstGeom prst="roundRect">
            <a:avLst>
              <a:gd name="adj" fmla="val 50000"/>
            </a:avLst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7040880" y="7955280"/>
            <a:ext cx="2514600" cy="155448"/>
          </a:xfrm>
          <a:prstGeom prst="roundRect">
            <a:avLst>
              <a:gd name="adj" fmla="val 50000"/>
            </a:avLst>
          </a:prstGeom>
          <a:solidFill>
            <a:srgbClr val="E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7040880" y="7955280"/>
            <a:ext cx="1936242" cy="155448"/>
          </a:xfrm>
          <a:prstGeom prst="roundRect">
            <a:avLst>
              <a:gd name="adj" fmla="val 50000"/>
            </a:avLst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7040880" y="8330184"/>
            <a:ext cx="2514600" cy="155448"/>
          </a:xfrm>
          <a:prstGeom prst="roundRect">
            <a:avLst>
              <a:gd name="adj" fmla="val 50000"/>
            </a:avLst>
          </a:prstGeom>
          <a:solidFill>
            <a:srgbClr val="E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7040880" y="8330184"/>
            <a:ext cx="1810512" cy="155448"/>
          </a:xfrm>
          <a:prstGeom prst="roundRect">
            <a:avLst>
              <a:gd name="adj" fmla="val 50000"/>
            </a:avLst>
          </a:prstGeom>
          <a:solidFill>
            <a:srgbClr val="D96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7040880" y="8705088"/>
            <a:ext cx="2514600" cy="155448"/>
          </a:xfrm>
          <a:prstGeom prst="roundRect">
            <a:avLst>
              <a:gd name="adj" fmla="val 50000"/>
            </a:avLst>
          </a:prstGeom>
          <a:solidFill>
            <a:srgbClr val="E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7040880" y="8705088"/>
            <a:ext cx="1559052" cy="155448"/>
          </a:xfrm>
          <a:prstGeom prst="roundRect">
            <a:avLst>
              <a:gd name="adj" fmla="val 50000"/>
            </a:avLst>
          </a:prstGeom>
          <a:solidFill>
            <a:srgbClr val="D96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914400" y="9299448"/>
            <a:ext cx="365760" cy="155448"/>
          </a:xfrm>
          <a:prstGeom prst="roundRect">
            <a:avLst>
              <a:gd name="adj" fmla="val 5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371600" y="9244584"/>
            <a:ext cx="2011680" cy="274320"/>
          </a:xfrm>
          <a:prstGeom prst="rect">
            <a:avLst/>
          </a:prstGeom>
          <a:noFill/>
        </p:spPr>
        <p:txBody>
          <a:bodyPr wrap="none" lIns="0" tIns="0" bIns="0" anchor="ctr">
            <a:spAutoFit/>
          </a:bodyPr>
          <a:lstStyle/>
          <a:p>
            <a:r>
              <a:rPr sz="1200">
                <a:solidFill>
                  <a:srgbClr val="535D6B"/>
                </a:solidFill>
                <a:latin typeface="Merriweather Sans"/>
              </a:rPr>
              <a:t>Coverage ≥ 90%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3383280" y="9299448"/>
            <a:ext cx="365760" cy="155448"/>
          </a:xfrm>
          <a:prstGeom prst="roundRect">
            <a:avLst>
              <a:gd name="adj" fmla="val 50000"/>
            </a:avLst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840480" y="9244584"/>
            <a:ext cx="2011680" cy="274320"/>
          </a:xfrm>
          <a:prstGeom prst="rect">
            <a:avLst/>
          </a:prstGeom>
          <a:noFill/>
        </p:spPr>
        <p:txBody>
          <a:bodyPr wrap="none" lIns="0" tIns="0" bIns="0" anchor="ctr">
            <a:spAutoFit/>
          </a:bodyPr>
          <a:lstStyle/>
          <a:p>
            <a:r>
              <a:rPr sz="1200">
                <a:solidFill>
                  <a:srgbClr val="535D6B"/>
                </a:solidFill>
                <a:latin typeface="Merriweather Sans"/>
              </a:rPr>
              <a:t>75 – 89%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5852160" y="9299448"/>
            <a:ext cx="365760" cy="155448"/>
          </a:xfrm>
          <a:prstGeom prst="roundRect">
            <a:avLst>
              <a:gd name="adj" fmla="val 50000"/>
            </a:avLst>
          </a:prstGeom>
          <a:solidFill>
            <a:srgbClr val="D96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309360" y="9244584"/>
            <a:ext cx="2011680" cy="274320"/>
          </a:xfrm>
          <a:prstGeom prst="rect">
            <a:avLst/>
          </a:prstGeom>
          <a:noFill/>
        </p:spPr>
        <p:txBody>
          <a:bodyPr wrap="none" lIns="0" tIns="0" bIns="0" anchor="ctr">
            <a:spAutoFit/>
          </a:bodyPr>
          <a:lstStyle/>
          <a:p>
            <a:r>
              <a:rPr sz="1200">
                <a:solidFill>
                  <a:srgbClr val="535D6B"/>
                </a:solidFill>
                <a:latin typeface="Merriweather Sans"/>
              </a:rPr>
              <a:t>&lt; 75%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