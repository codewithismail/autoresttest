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7" r:id="rId7"/>
  </p:sldIdLst>
  <p:sldSz cy="10287000" cx="18288000"/>
  <p:notesSz cx="6858000" cy="9144000"/>
  <p:embeddedFontLst>
    <p:embeddedFont>
      <p:font typeface="Merriweather Sans"/>
      <p:regular r:id="rId40"/>
      <p:bold r:id="rId41"/>
      <p:italic r:id="rId42"/>
      <p:boldItalic r:id="rId43"/>
    </p:embeddedFont>
    <p:embeddedFont>
      <p:font typeface="Monda"/>
      <p:regular r:id="rId44"/>
      <p:bold r:id="rId45"/>
    </p:embeddedFont>
    <p:embeddedFont>
      <p:font typeface="Quattrocento Sans"/>
      <p:regular r:id="rId46"/>
      <p:bold r:id="rId47"/>
      <p:italic r:id="rId48"/>
      <p:boldItalic r:id="rId49"/>
    </p:embeddedFont>
    <p:embeddedFont>
      <p:font typeface="Poppins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jLDAt+j/Y+K1NEIGKldfqW6V0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40" Type="http://schemas.openxmlformats.org/officeDocument/2006/relationships/font" Target="fonts/MerriweatherSans-regular.fntdata"/><Relationship Id="rId41" Type="http://schemas.openxmlformats.org/officeDocument/2006/relationships/font" Target="fonts/MerriweatherSans-bold.fntdata"/><Relationship Id="rId42" Type="http://schemas.openxmlformats.org/officeDocument/2006/relationships/font" Target="fonts/MerriweatherSans-italic.fntdata"/><Relationship Id="rId43" Type="http://schemas.openxmlformats.org/officeDocument/2006/relationships/font" Target="fonts/MerriweatherSans-boldItalic.fntdata"/><Relationship Id="rId44" Type="http://schemas.openxmlformats.org/officeDocument/2006/relationships/font" Target="fonts/Monda-regular.fntdata"/><Relationship Id="rId45" Type="http://schemas.openxmlformats.org/officeDocument/2006/relationships/font" Target="fonts/Monda-bold.fntdata"/><Relationship Id="rId46" Type="http://schemas.openxmlformats.org/officeDocument/2006/relationships/font" Target="fonts/QuattrocentoSans-regular.fntdata"/><Relationship Id="rId47" Type="http://schemas.openxmlformats.org/officeDocument/2006/relationships/font" Target="fonts/QuattrocentoSans-bold.fntdata"/><Relationship Id="rId48" Type="http://schemas.openxmlformats.org/officeDocument/2006/relationships/font" Target="fonts/QuattrocentoSans-italic.fntdata"/><Relationship Id="rId49" Type="http://schemas.openxmlformats.org/officeDocument/2006/relationships/font" Target="fonts/QuattrocentoSans-boldItalic.fntdata"/><Relationship Id="rId50" Type="http://schemas.openxmlformats.org/officeDocument/2006/relationships/font" Target="fonts/PoppinsSemiBold-regular.fntdata"/><Relationship Id="rId51" Type="http://schemas.openxmlformats.org/officeDocument/2006/relationships/font" Target="fonts/PoppinsSemiBold-bold.fntdata"/><Relationship Id="rId52" Type="http://schemas.openxmlformats.org/officeDocument/2006/relationships/font" Target="fonts/PoppinsSemiBold-italic.fntdata"/><Relationship Id="rId53" Type="http://schemas.openxmlformats.org/officeDocument/2006/relationships/font" Target="fonts/PoppinsSemiBold-boldItalic.fntdata"/><Relationship Id="rId5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22ba911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f622ba911e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hyperlink" Target="https://autoresttest.vercel.app" TargetMode="External"/><Relationship Id="rId12" Type="http://schemas.openxmlformats.org/officeDocument/2006/relationships/image" Target="../media/image7.png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-3383538" y="6148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Deployment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044000" y="2700000"/>
            <a:ext cx="44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374000" y="2700000"/>
            <a:ext cx="3740000" cy="70000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44000" y="2860000"/>
            <a:ext cx="44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F6FC6"/>
                </a:solidFill>
                <a:latin typeface="Merriweather Sans"/>
              </a:rPr>
              <a:t>FRONTEND</a:t>
            </a:r>
          </a:p>
        </p:txBody>
      </p:sp>
      <p:pic>
        <p:nvPicPr>
          <p:cNvPr id="103" name="Picture 102" descr="verc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3260000"/>
            <a:ext cx="900000" cy="9000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44000" y="4260000"/>
            <a:ext cx="44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Merriweather Sans"/>
              </a:rPr>
              <a:t>Vercel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944000" y="2700000"/>
            <a:ext cx="44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274000" y="2700000"/>
            <a:ext cx="3740000" cy="70000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44000" y="2860000"/>
            <a:ext cx="44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6B13"/>
                </a:solidFill>
                <a:latin typeface="Merriweather Sans"/>
              </a:rPr>
              <a:t>BACKEND SERVICE</a:t>
            </a:r>
          </a:p>
        </p:txBody>
      </p:sp>
      <p:pic>
        <p:nvPicPr>
          <p:cNvPr id="108" name="Picture 107" descr="ren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000" y="3260000"/>
            <a:ext cx="900000" cy="9000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944000" y="4260000"/>
            <a:ext cx="44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Merriweather Sans"/>
              </a:rPr>
              <a:t>Render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2844000" y="2700000"/>
            <a:ext cx="44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3174000" y="2700000"/>
            <a:ext cx="3740000" cy="70000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844000" y="2860000"/>
            <a:ext cx="44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F6FC6"/>
                </a:solidFill>
                <a:latin typeface="Merriweather Sans"/>
              </a:rPr>
              <a:t>DATABASE</a:t>
            </a:r>
          </a:p>
        </p:txBody>
      </p:sp>
      <p:pic>
        <p:nvPicPr>
          <p:cNvPr id="113" name="Picture 112" descr="ne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94000" y="3260000"/>
            <a:ext cx="900000" cy="9000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2844000" y="4260000"/>
            <a:ext cx="44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Merriweather Sans"/>
              </a:rPr>
              <a:t>Neon DB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944000" y="6150000"/>
            <a:ext cx="44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274000" y="6150000"/>
            <a:ext cx="3740000" cy="70000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944000" y="6310000"/>
            <a:ext cx="44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96B13"/>
                </a:solidFill>
                <a:latin typeface="Merriweather Sans"/>
              </a:rPr>
              <a:t>ENGINE SERVICE</a:t>
            </a:r>
          </a:p>
        </p:txBody>
      </p:sp>
      <p:pic>
        <p:nvPicPr>
          <p:cNvPr id="118" name="Picture 117" descr="ren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000" y="6710000"/>
            <a:ext cx="900000" cy="90000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6944000" y="7710000"/>
            <a:ext cx="44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Merriweather Sans"/>
              </a:rPr>
              <a:t>Render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2844000" y="6150000"/>
            <a:ext cx="44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3174000" y="6150000"/>
            <a:ext cx="3740000" cy="7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844000" y="6310000"/>
            <a:ext cx="44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497D"/>
                </a:solidFill>
                <a:latin typeface="Merriweather Sans"/>
              </a:rPr>
              <a:t>LLM PROVIDERS</a:t>
            </a:r>
          </a:p>
        </p:txBody>
      </p:sp>
      <p:pic>
        <p:nvPicPr>
          <p:cNvPr id="123" name="Picture 122" descr="nvidi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94000" y="6710000"/>
            <a:ext cx="900000" cy="90000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2844000" y="7710000"/>
            <a:ext cx="2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Merriweather Sans"/>
              </a:rPr>
              <a:t>NVIDIA NIM</a:t>
            </a:r>
          </a:p>
        </p:txBody>
      </p:sp>
      <p:pic>
        <p:nvPicPr>
          <p:cNvPr id="125" name="Picture 124" descr="googlegemin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94000" y="6710000"/>
            <a:ext cx="900000" cy="90000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15044000" y="7710000"/>
            <a:ext cx="220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Merriweather Sans"/>
              </a:rPr>
              <a:t>Google Gemini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5444000" y="3900000"/>
            <a:ext cx="1500000" cy="0"/>
          </a:xfrm>
          <a:prstGeom prst="line">
            <a:avLst/>
          </a:prstGeom>
          <a:ln w="44450">
            <a:solidFill>
              <a:srgbClr val="2F6FC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5444000" y="3480000"/>
            <a:ext cx="15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35D6B"/>
                </a:solidFill>
                <a:latin typeface="Merriweather Sans"/>
              </a:rPr>
              <a:t>REST API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1344000" y="3900000"/>
            <a:ext cx="1500000" cy="0"/>
          </a:xfrm>
          <a:prstGeom prst="line">
            <a:avLst/>
          </a:prstGeom>
          <a:ln w="44450">
            <a:solidFill>
              <a:srgbClr val="2F6FC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1344000" y="3480000"/>
            <a:ext cx="15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35D6B"/>
                </a:solidFill>
                <a:latin typeface="Merriweather Sans"/>
              </a:rPr>
              <a:t>SQL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9144000" y="5100000"/>
            <a:ext cx="0" cy="1050000"/>
          </a:xfrm>
          <a:prstGeom prst="line">
            <a:avLst/>
          </a:prstGeom>
          <a:ln w="44450">
            <a:solidFill>
              <a:srgbClr val="2F6FC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9294000" y="5430000"/>
            <a:ext cx="18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35D6B"/>
                </a:solidFill>
                <a:latin typeface="Merriweather Sans"/>
              </a:rPr>
              <a:t>REST API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1344000" y="7350000"/>
            <a:ext cx="1500000" cy="0"/>
          </a:xfrm>
          <a:prstGeom prst="line">
            <a:avLst/>
          </a:prstGeom>
          <a:ln w="44450">
            <a:solidFill>
              <a:srgbClr val="2F6FC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1344000" y="6930000"/>
            <a:ext cx="15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35D6B"/>
                </a:solidFill>
                <a:latin typeface="Merriweather Sans"/>
              </a:rPr>
              <a:t>LLM API</a:t>
            </a:r>
          </a:p>
        </p:txBody>
      </p:sp>
      <p:sp>
        <p:nvSpPr>
          <p:cNvPr id="135" name="Rounded Rectangle 134">
            <a:hlinkClick r:id="rId11"/>
          </p:cNvPr>
          <p:cNvSpPr/>
          <p:nvPr/>
        </p:nvSpPr>
        <p:spPr>
          <a:xfrm>
            <a:off x="1044000" y="6150000"/>
            <a:ext cx="4400000" cy="24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F497D"/>
              </a:gs>
              <a:gs pos="100000">
                <a:srgbClr val="2F6FC6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344000" y="6430000"/>
            <a:ext cx="900000" cy="900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glob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4000" y="6570000"/>
            <a:ext cx="620000" cy="620000"/>
          </a:xfrm>
          <a:prstGeom prst="rect">
            <a:avLst/>
          </a:prstGeom>
        </p:spPr>
      </p:pic>
      <p:sp>
        <p:nvSpPr>
          <p:cNvPr id="138" name="Rounded Rectangle 137"/>
          <p:cNvSpPr/>
          <p:nvPr/>
        </p:nvSpPr>
        <p:spPr>
          <a:xfrm>
            <a:off x="3944000" y="6580000"/>
            <a:ext cx="1200000" cy="4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064000" y="6710000"/>
            <a:ext cx="170000" cy="170000"/>
          </a:xfrm>
          <a:prstGeom prst="ellipse">
            <a:avLst/>
          </a:prstGeom>
          <a:solidFill>
            <a:srgbClr val="1FB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294000" y="6580000"/>
            <a:ext cx="800000" cy="4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497D"/>
                </a:solidFill>
                <a:latin typeface="Merriweather Sans"/>
              </a:rPr>
              <a:t>LIVE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394000" y="6550000"/>
            <a:ext cx="190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E4ECF7"/>
                </a:solidFill>
                <a:latin typeface="Merriweather Sans"/>
              </a:rPr>
              <a:t>PUBLIC URL</a:t>
            </a:r>
          </a:p>
        </p:txBody>
      </p:sp>
      <p:sp>
        <p:nvSpPr>
          <p:cNvPr id="142" name="Rounded Rectangle 141">
            <a:hlinkClick r:id="rId11"/>
          </p:cNvPr>
          <p:cNvSpPr/>
          <p:nvPr/>
        </p:nvSpPr>
        <p:spPr>
          <a:xfrm>
            <a:off x="1344000" y="7530000"/>
            <a:ext cx="3800000" cy="7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44000" y="7530000"/>
            <a:ext cx="380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F6FC6"/>
                </a:solidFill>
                <a:latin typeface="Merriweather Sans"/>
              </a:rPr>
              <a:t>autoresttest.vercel.app</a:t>
            </a:r>
          </a:p>
        </p:txBody>
      </p:sp>
      <p:cxnSp>
        <p:nvCxnSpPr>
          <p:cNvPr id="144" name="Connector 143"/>
          <p:cNvCxnSpPr/>
          <p:nvPr/>
        </p:nvCxnSpPr>
        <p:spPr>
          <a:xfrm flipV="1">
            <a:off x="3244000" y="5100000"/>
            <a:ext cx="0" cy="1050000"/>
          </a:xfrm>
          <a:prstGeom prst="line">
            <a:avLst/>
          </a:prstGeom>
          <a:ln w="44450">
            <a:solidFill>
              <a:srgbClr val="2F6FC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