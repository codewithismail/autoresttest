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8" r:id="rId22"/>
    <p:sldId id="259" r:id="rId23"/>
    <p:sldId id="260" r:id="rId24"/>
    <p:sldId id="261" r:id="rId25"/>
    <p:sldId id="262" r:id="rId26"/>
  </p:sldIdLst>
  <p:sldSz cy="10287000" cx="18288000"/>
  <p:notesSz cx="6858000" cy="9144000"/>
  <p:embeddedFontLst>
    <p:embeddedFont>
      <p:font typeface="Merriweather Sans"/>
      <p:regular r:id="rId40"/>
      <p:bold r:id="rId41"/>
      <p:italic r:id="rId42"/>
      <p:boldItalic r:id="rId43"/>
    </p:embeddedFont>
    <p:embeddedFont>
      <p:font typeface="Monda"/>
      <p:regular r:id="rId44"/>
      <p:bold r:id="rId45"/>
    </p:embeddedFont>
    <p:embeddedFont>
      <p:font typeface="Quattrocento Sans"/>
      <p:regular r:id="rId46"/>
      <p:bold r:id="rId47"/>
      <p:italic r:id="rId48"/>
      <p:boldItalic r:id="rId49"/>
    </p:embeddedFont>
    <p:embeddedFont>
      <p:font typeface="Poppins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4" roundtripDataSignature="AMtx7mjLDAt+j/Y+K1NEIGKldfqW6V0f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40" Type="http://schemas.openxmlformats.org/officeDocument/2006/relationships/font" Target="fonts/MerriweatherSans-regular.fntdata"/><Relationship Id="rId41" Type="http://schemas.openxmlformats.org/officeDocument/2006/relationships/font" Target="fonts/MerriweatherSans-bold.fntdata"/><Relationship Id="rId42" Type="http://schemas.openxmlformats.org/officeDocument/2006/relationships/font" Target="fonts/MerriweatherSans-italic.fntdata"/><Relationship Id="rId43" Type="http://schemas.openxmlformats.org/officeDocument/2006/relationships/font" Target="fonts/MerriweatherSans-boldItalic.fntdata"/><Relationship Id="rId44" Type="http://schemas.openxmlformats.org/officeDocument/2006/relationships/font" Target="fonts/Monda-regular.fntdata"/><Relationship Id="rId45" Type="http://schemas.openxmlformats.org/officeDocument/2006/relationships/font" Target="fonts/Monda-bold.fntdata"/><Relationship Id="rId46" Type="http://schemas.openxmlformats.org/officeDocument/2006/relationships/font" Target="fonts/QuattrocentoSans-regular.fntdata"/><Relationship Id="rId47" Type="http://schemas.openxmlformats.org/officeDocument/2006/relationships/font" Target="fonts/QuattrocentoSans-bold.fntdata"/><Relationship Id="rId48" Type="http://schemas.openxmlformats.org/officeDocument/2006/relationships/font" Target="fonts/QuattrocentoSans-italic.fntdata"/><Relationship Id="rId49" Type="http://schemas.openxmlformats.org/officeDocument/2006/relationships/font" Target="fonts/QuattrocentoSans-boldItalic.fntdata"/><Relationship Id="rId50" Type="http://schemas.openxmlformats.org/officeDocument/2006/relationships/font" Target="fonts/PoppinsSemiBold-regular.fntdata"/><Relationship Id="rId51" Type="http://schemas.openxmlformats.org/officeDocument/2006/relationships/font" Target="fonts/PoppinsSemiBold-bold.fntdata"/><Relationship Id="rId52" Type="http://schemas.openxmlformats.org/officeDocument/2006/relationships/font" Target="fonts/PoppinsSemiBold-italic.fntdata"/><Relationship Id="rId53" Type="http://schemas.openxmlformats.org/officeDocument/2006/relationships/font" Target="fonts/PoppinsSemiBold-boldItalic.fntdata"/><Relationship Id="rId5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" name="Google Shape;96;g3f622ba911e_4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97" name="Google Shape;97;g3f622ba911e_4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g3f622ba911e_4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g3f622ba911e_4_0"/>
          <p:cNvSpPr txBox="1"/>
          <p:nvPr/>
        </p:nvSpPr>
        <p:spPr>
          <a:xfrm>
            <a:off x="594360" y="614800"/>
            <a:ext cx="1554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Testing Strategy &amp; Overall Results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914400" y="1600200"/>
            <a:ext cx="313090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43000" y="1600200"/>
            <a:ext cx="2673705" cy="54864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400" y="1709928"/>
            <a:ext cx="313090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F6FC6"/>
                </a:solidFill>
                <a:latin typeface="Merriweather Sans"/>
              </a:rPr>
              <a:t>352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4400" y="2221992"/>
            <a:ext cx="313090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TOTAL TESTS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246473" y="1600200"/>
            <a:ext cx="313090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475073" y="1600200"/>
            <a:ext cx="2673705" cy="54864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46473" y="1709928"/>
            <a:ext cx="313090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F6FC6"/>
                </a:solidFill>
                <a:latin typeface="Merriweather Sans"/>
              </a:rPr>
              <a:t>302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46473" y="2221992"/>
            <a:ext cx="313090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AUTOMATED UNIT TESTS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578547" y="1600200"/>
            <a:ext cx="313090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807147" y="1600200"/>
            <a:ext cx="2673705" cy="54864"/>
          </a:xfrm>
          <a:prstGeom prst="rect">
            <a:avLst/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578547" y="1709928"/>
            <a:ext cx="313090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FA857"/>
                </a:solidFill>
                <a:latin typeface="Merriweather Sans"/>
              </a:rPr>
              <a:t>50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578547" y="2221992"/>
            <a:ext cx="313090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SYSTEM TEST CASES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910620" y="1600200"/>
            <a:ext cx="313090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139220" y="1600200"/>
            <a:ext cx="2673705" cy="54864"/>
          </a:xfrm>
          <a:prstGeom prst="rect">
            <a:avLst/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910620" y="1709928"/>
            <a:ext cx="313090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FA857"/>
                </a:solidFill>
                <a:latin typeface="Merriweather Sans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910620" y="2221992"/>
            <a:ext cx="313090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DEFECTS REMAINING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4242694" y="1600200"/>
            <a:ext cx="313090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4471294" y="1600200"/>
            <a:ext cx="2673705" cy="54864"/>
          </a:xfrm>
          <a:prstGeom prst="rect">
            <a:avLst/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4242694" y="1709928"/>
            <a:ext cx="313090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FA857"/>
                </a:solidFill>
                <a:latin typeface="Merriweather Sans"/>
              </a:rPr>
              <a:t>100%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4242694" y="2221992"/>
            <a:ext cx="313090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OVERALL PASS RATE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4400" y="2834640"/>
            <a:ext cx="8046720" cy="6492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143000" y="2834640"/>
            <a:ext cx="7589520" cy="54864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88720" y="3017520"/>
            <a:ext cx="7498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97D"/>
                </a:solidFill>
                <a:latin typeface="Merriweather Sans"/>
              </a:rPr>
              <a:t>Tier 1: Automated Unit Testing (Code Level)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88720" y="3429000"/>
            <a:ext cx="7498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6FC6"/>
                </a:solidFill>
                <a:latin typeface="Merriweather Sans"/>
              </a:rPr>
              <a:t>302 Automated Tests · 24 Test Suites · 100% Pass Rate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188720" y="3886200"/>
            <a:ext cx="7498080" cy="210312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371600" y="3977639"/>
            <a:ext cx="7132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  <a:latin typeface="Merriweather Sans"/>
              </a:rPr>
              <a:t>Backend Application Server (NestJS + Jest)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71600" y="4343400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  <a:latin typeface="Merriweather Sans"/>
              </a:rPr>
              <a:t>• 21 Test Suites · 257 Automated Tests (Executed in 23.4s)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371600" y="4727448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• Authentication, JWT token lifecycle, password &amp; email hashing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371600" y="5111496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• Role-based access control (Admin, Tester, Viewer) &amp; project security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71600" y="5495544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• OpenAPI 3.0 specification parsing, endpoint extraction, report exports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188720" y="6172200"/>
            <a:ext cx="7498080" cy="210312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371600" y="6263640"/>
            <a:ext cx="7132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  <a:latin typeface="Merriweather Sans"/>
              </a:rPr>
              <a:t>AI Engine Microservice (Python + Pytest)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371600" y="6629400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  <a:latin typeface="Merriweather Sans"/>
              </a:rPr>
              <a:t>• 3 Test Modules · 45 Automated Tests (Executed in 13.9s)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71600" y="7013448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• Engine REST API: Run dispatching, bearer tokens, status polling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371600" y="7397496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• OOPS Code-to-Spec: Source zip parsing, file traversal security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71600" y="7781544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• Execution Runner: RL process lifecycle, proxy request capture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188720" y="8458200"/>
            <a:ext cx="7498080" cy="59436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88720" y="8458200"/>
            <a:ext cx="7498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A857"/>
                </a:solidFill>
                <a:latin typeface="Merriweather Sans"/>
              </a:rPr>
              <a:t>✔ Continuous Integration: 302/302 Passed (~37s total run)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326880" y="2834640"/>
            <a:ext cx="8046720" cy="6492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555480" y="2834640"/>
            <a:ext cx="7589520" cy="54864"/>
          </a:xfrm>
          <a:prstGeom prst="rect">
            <a:avLst/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601200" y="3017520"/>
            <a:ext cx="7498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97D"/>
                </a:solidFill>
                <a:latin typeface="Merriweather Sans"/>
              </a:rPr>
              <a:t>Tier 2: System &amp; Black-Box Testing (E2E)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601200" y="3429000"/>
            <a:ext cx="7498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6B13"/>
                </a:solidFill>
                <a:latin typeface="Merriweather Sans"/>
              </a:rPr>
              <a:t>50 End-to-End Scenarios · 7 Functional Modules · 100% Pass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601200" y="3886200"/>
            <a:ext cx="7498080" cy="210312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784080" y="3977639"/>
            <a:ext cx="7132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  <a:latin typeface="Merriweather Sans"/>
              </a:rPr>
              <a:t>Deployed Testing Environment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784080" y="4343400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  <a:latin typeface="Merriweather Sans"/>
              </a:rPr>
              <a:t>• Fully Deployed SaaS Stack (Vercel + Render + NeonDB)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784080" y="4727448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• Exercised across both web UI and underlying REST API endpoints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784080" y="5111496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• Multi-account concurrent testing (Owner, Admin, Tester, Viewer)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784080" y="5495544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• Live AI provider interaction + mock deterministic mode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601200" y="6172200"/>
            <a:ext cx="7498080" cy="210312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784080" y="6263640"/>
            <a:ext cx="7132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  <a:latin typeface="Merriweather Sans"/>
              </a:rPr>
              <a:t>Test Case Intent &amp; Breakdown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784080" y="6629400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  <a:latin typeface="Merriweather Sans"/>
              </a:rPr>
              <a:t>• Functional Workflows: 35 Cases (Happy-path operational flows)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784080" y="7013448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• Negative / Validation: 10 Cases (Bad inputs, malformed specs, sizes)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784080" y="7397496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• Security &amp; Permissions: 5 Cases (RBAC rules, unverified states)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784080" y="7781544"/>
            <a:ext cx="7132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• Modules Covered: Auth, Projects, Specs, Suites, Execution, Reports, Team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601200" y="8458200"/>
            <a:ext cx="7498080" cy="59436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601200" y="8458200"/>
            <a:ext cx="7498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A857"/>
                </a:solidFill>
                <a:latin typeface="Merriweather Sans"/>
              </a:rPr>
              <a:t>✔ Full Acceptance: 50/50 Passed with 0 Failures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" name="Google Shape;96;g3f622ba911e_4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97" name="Google Shape;97;g3f622ba911e_4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g3f622ba911e_4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g3f622ba911e_4_0"/>
          <p:cNvSpPr txBox="1"/>
          <p:nvPr/>
        </p:nvSpPr>
        <p:spPr>
          <a:xfrm>
            <a:off x="594360" y="614800"/>
            <a:ext cx="1554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Automated Unit Testing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914400" y="1600200"/>
            <a:ext cx="313090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43000" y="1600200"/>
            <a:ext cx="2673705" cy="54864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400" y="1709928"/>
            <a:ext cx="313090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F6FC6"/>
                </a:solidFill>
                <a:latin typeface="Merriweather Sans"/>
              </a:rPr>
              <a:t>302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4400" y="2221992"/>
            <a:ext cx="313090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TOTAL UNIT TESTS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246473" y="1600200"/>
            <a:ext cx="313090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475073" y="1600200"/>
            <a:ext cx="2673705" cy="54864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46473" y="1709928"/>
            <a:ext cx="313090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F6FC6"/>
                </a:solidFill>
                <a:latin typeface="Merriweather Sans"/>
              </a:rPr>
              <a:t>24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46473" y="2221992"/>
            <a:ext cx="313090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TEST SUITES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578547" y="1600200"/>
            <a:ext cx="313090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807147" y="1600200"/>
            <a:ext cx="2673705" cy="54864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578547" y="1709928"/>
            <a:ext cx="313090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F6FC6"/>
                </a:solidFill>
                <a:latin typeface="Merriweather Sans"/>
              </a:rPr>
              <a:t>257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578547" y="2221992"/>
            <a:ext cx="313090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NESTJS (JEST)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910620" y="1600200"/>
            <a:ext cx="313090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139220" y="1600200"/>
            <a:ext cx="2673705" cy="54864"/>
          </a:xfrm>
          <a:prstGeom prst="rect">
            <a:avLst/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910620" y="1709928"/>
            <a:ext cx="313090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D96B13"/>
                </a:solidFill>
                <a:latin typeface="Merriweather Sans"/>
              </a:rPr>
              <a:t>45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910620" y="2221992"/>
            <a:ext cx="313090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PYTHON (PYTEST)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4242694" y="1600200"/>
            <a:ext cx="313090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4471294" y="1600200"/>
            <a:ext cx="2673705" cy="54864"/>
          </a:xfrm>
          <a:prstGeom prst="rect">
            <a:avLst/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4242694" y="1709928"/>
            <a:ext cx="313090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FA857"/>
                </a:solidFill>
                <a:latin typeface="Merriweather Sans"/>
              </a:rPr>
              <a:t>37.3s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4242694" y="2221992"/>
            <a:ext cx="313090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35D6B"/>
                </a:solidFill>
                <a:latin typeface="Merriweather Sans"/>
              </a:rPr>
              <a:t>CI RUNTIME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4400" y="2834640"/>
            <a:ext cx="8046720" cy="548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143000" y="2834640"/>
            <a:ext cx="7589520" cy="54864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88720" y="3017520"/>
            <a:ext cx="7498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97D"/>
                </a:solidFill>
                <a:latin typeface="Merriweather Sans"/>
              </a:rPr>
              <a:t>Backend Application Server (NestJS + Jest)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88720" y="3429000"/>
            <a:ext cx="7498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6FC6"/>
                </a:solidFill>
                <a:latin typeface="Merriweather Sans"/>
              </a:rPr>
              <a:t>21 Test Suites · 257 Tests · 23.39s Runtime · 100% Pass Rate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188720" y="3886200"/>
            <a:ext cx="7498080" cy="932688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371600" y="3977639"/>
            <a:ext cx="7132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Merriweather Sans"/>
              </a:rPr>
              <a:t>Authentication &amp; Token Security (41 tests)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71600" y="4270248"/>
            <a:ext cx="7132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F6FC6"/>
                </a:solidFill>
                <a:latin typeface="Merriweather Sans"/>
              </a:rPr>
              <a:t>Files: auth.service, signup.service, tokens.service, jwt.strategy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371600" y="4507992"/>
            <a:ext cx="7132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Password hashing, JWT cookie signing, 6-digit confirmation logic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188720" y="4937760"/>
            <a:ext cx="7498080" cy="932688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371600" y="5029200"/>
            <a:ext cx="7132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Merriweather Sans"/>
              </a:rPr>
              <a:t>RBAC &amp; Project Isolation (40 tests)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371600" y="5321808"/>
            <a:ext cx="7132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F6FC6"/>
                </a:solidFill>
                <a:latin typeface="Merriweather Sans"/>
              </a:rPr>
              <a:t>Files: project-access.service, members.service, invitations.service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371600" y="5559552"/>
            <a:ext cx="7132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Admin/Tester/Viewer boundaries, multi-tenant data guards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88720" y="5989320"/>
            <a:ext cx="7498080" cy="932688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371600" y="6080759"/>
            <a:ext cx="7132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Merriweather Sans"/>
              </a:rPr>
              <a:t>OpenAPI &amp; Spec Handling (42 tests)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371600" y="6373368"/>
            <a:ext cx="7132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F6FC6"/>
                </a:solidFill>
                <a:latin typeface="Merriweather Sans"/>
              </a:rPr>
              <a:t>Files: endpoint-extractor, specs.service, spec-generation.service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71600" y="6611112"/>
            <a:ext cx="7132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OAS 3.0 parsing, verb extraction, zip archive security validation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188720" y="7040879"/>
            <a:ext cx="7498080" cy="932688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371600" y="7132319"/>
            <a:ext cx="7132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Merriweather Sans"/>
              </a:rPr>
              <a:t>Engines, Reports &amp; Utilities (134 tests)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371600" y="7424927"/>
            <a:ext cx="7132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F6FC6"/>
                </a:solidFill>
                <a:latin typeface="Merriweather Sans"/>
              </a:rPr>
              <a:t>Files: engine.service, reports.service, report-export, graph-merge, ...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371600" y="7662671"/>
            <a:ext cx="7132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SPDG graph union, PDF/CSV export, LLM prompt formatting, email mock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326880" y="2834640"/>
            <a:ext cx="8046720" cy="548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555480" y="2834640"/>
            <a:ext cx="7589520" cy="54864"/>
          </a:xfrm>
          <a:prstGeom prst="rect">
            <a:avLst/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601200" y="3017520"/>
            <a:ext cx="7498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97D"/>
                </a:solidFill>
                <a:latin typeface="Merriweather Sans"/>
              </a:rPr>
              <a:t>AI Engine Microservice (Python + Pytest)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601200" y="3429000"/>
            <a:ext cx="7498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6B13"/>
                </a:solidFill>
                <a:latin typeface="Merriweather Sans"/>
              </a:rPr>
              <a:t>3 Test Modules · 45 Tests · 13.96s Runtime · 100% Pass Rate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601200" y="3886200"/>
            <a:ext cx="7498080" cy="12801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784080" y="3995928"/>
            <a:ext cx="7132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Merriweather Sans"/>
              </a:rPr>
              <a:t>Engine REST API Service (8 tests)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784080" y="4306824"/>
            <a:ext cx="7132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D96B13"/>
                </a:solidFill>
                <a:latin typeface="Merriweather Sans"/>
              </a:rPr>
              <a:t>File: tests/test_api.py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784080" y="4599432"/>
            <a:ext cx="7132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Microservice endpoints, health probes, bearer authentication, run job creation, status polling, and error status code translation.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601200" y="5303520"/>
            <a:ext cx="7498080" cy="12801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784080" y="5413248"/>
            <a:ext cx="7132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Merriweather Sans"/>
              </a:rPr>
              <a:t>OOPS Spec Generation Pipeline (18 tests)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784080" y="5724144"/>
            <a:ext cx="7132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D96B13"/>
                </a:solidFill>
                <a:latin typeface="Merriweather Sans"/>
              </a:rPr>
              <a:t>File: tests/test_generation.py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784080" y="6016752"/>
            <a:ext cx="7132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Source code zip extraction, file filtering, path traversal protection (../ attacks), rate limits, and LLM request timeouts.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601200" y="6720840"/>
            <a:ext cx="7498080" cy="128016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784080" y="6830568"/>
            <a:ext cx="7132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Merriweather Sans"/>
              </a:rPr>
              <a:t>MARL Runner &amp; Proxy Engine (19 tests)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84080" y="7141464"/>
            <a:ext cx="7132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D96B13"/>
                </a:solidFill>
                <a:latin typeface="Merriweather Sans"/>
              </a:rPr>
              <a:t>File: tests/test_runner.py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784080" y="7434071"/>
            <a:ext cx="7132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Multi-agent RL testing runner process lifecycle, proxy request capture and interception, cached values, and deterministic mock execution.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14400" y="8503920"/>
            <a:ext cx="16459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143000" y="8503920"/>
            <a:ext cx="16002000" cy="54864"/>
          </a:xfrm>
          <a:prstGeom prst="rect">
            <a:avLst/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88720" y="8613648"/>
            <a:ext cx="159105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497D"/>
                </a:solidFill>
                <a:latin typeface="Merriweather Sans"/>
              </a:rPr>
              <a:t>Continuous Integration &amp; Quality Assurance: All 302 unit tests run automatically in CI under 40 seconds with 100% repeatability, ensuring no architectural regression reaches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" name="Google Shape;96;g3f622ba911e_4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97" name="Google Shape;97;g3f622ba911e_4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g3f622ba911e_4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g3f622ba911e_4_0"/>
          <p:cNvSpPr txBox="1"/>
          <p:nvPr/>
        </p:nvSpPr>
        <p:spPr>
          <a:xfrm>
            <a:off x="594360" y="614800"/>
            <a:ext cx="1554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System Testing: Module-wise Coverage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0" name="Table 99"/>
          <p:cNvGraphicFramePr>
            <a:graphicFrameLocks noGrp="1"/>
          </p:cNvGraphicFramePr>
          <p:nvPr/>
        </p:nvGraphicFramePr>
        <p:xfrm>
          <a:off x="914400" y="1645920"/>
          <a:ext cx="16459200" cy="74157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6240"/>
                <a:gridCol w="1280160"/>
                <a:gridCol w="1645920"/>
                <a:gridCol w="93268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erriweather Sans"/>
                        </a:rPr>
                        <a:t>Module</a:t>
                      </a:r>
                    </a:p>
                  </a:txBody>
                  <a:tcPr marL="164592" marR="164592" marT="0" marB="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rriweather Sans"/>
                        </a:rPr>
                        <a:t>Cases</a:t>
                      </a:r>
                    </a:p>
                  </a:txBody>
                  <a:tcPr marL="164592" marR="164592" marT="0" marB="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rriweather Sans"/>
                        </a:rPr>
                        <a:t>Result</a:t>
                      </a:r>
                    </a:p>
                  </a:txBody>
                  <a:tcPr marL="164592" marR="164592" marT="0" marB="0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erriweather Sans"/>
                        </a:rPr>
                        <a:t>What was verified</a:t>
                      </a:r>
                    </a:p>
                  </a:txBody>
                  <a:tcPr marL="164592" marR="164592" marT="0" marB="0" anchor="ctr">
                    <a:solidFill>
                      <a:srgbClr val="1F497D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497D"/>
                          </a:solidFill>
                          <a:latin typeface="Merriweather Sans"/>
                        </a:rPr>
                        <a:t>1.  Authentication</a:t>
                      </a:r>
                    </a:p>
                  </a:txBody>
                  <a:tcPr marL="164592" marR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F6FC6"/>
                          </a:solidFill>
                          <a:latin typeface="Merriweather Sans"/>
                        </a:rPr>
                        <a:t>13</a:t>
                      </a:r>
                    </a:p>
                  </a:txBody>
                  <a:tcPr marL="164592" marR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A857"/>
                          </a:solidFill>
                          <a:latin typeface="Merriweather Sans"/>
                        </a:rPr>
                        <a:t>PASS</a:t>
                      </a:r>
                    </a:p>
                  </a:txBody>
                  <a:tcPr marL="164592" marR="164592" marT="0" marB="0" anchor="ctr">
                    <a:solidFill>
                      <a:srgbClr val="E6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35D6B"/>
                          </a:solidFill>
                          <a:latin typeface="Merriweather Sans"/>
                        </a:rPr>
                        <a:t>Email-confirmed signup, hashed credentials, password reset, account deletion</a:t>
                      </a:r>
                    </a:p>
                  </a:txBody>
                  <a:tcPr marL="164592" marR="164592" marT="0" marB="0"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497D"/>
                          </a:solidFill>
                          <a:latin typeface="Merriweather Sans"/>
                        </a:rPr>
                        <a:t>2.  Project Management</a:t>
                      </a:r>
                    </a:p>
                  </a:txBody>
                  <a:tcPr marL="164592" marR="164592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D96B13"/>
                          </a:solidFill>
                          <a:latin typeface="Merriweather Sans"/>
                        </a:rPr>
                        <a:t>3</a:t>
                      </a:r>
                    </a:p>
                  </a:txBody>
                  <a:tcPr marL="164592" marR="164592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A857"/>
                          </a:solidFill>
                          <a:latin typeface="Merriweather Sans"/>
                        </a:rPr>
                        <a:t>PASS</a:t>
                      </a:r>
                    </a:p>
                  </a:txBody>
                  <a:tcPr marL="164592" marR="164592" marT="0" marB="0" anchor="ctr">
                    <a:solidFill>
                      <a:srgbClr val="E6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35D6B"/>
                          </a:solidFill>
                          <a:latin typeface="Merriweather Sans"/>
                        </a:rPr>
                        <a:t>Project creation, access control, safe deletion</a:t>
                      </a:r>
                    </a:p>
                  </a:txBody>
                  <a:tcPr marL="164592" marR="164592" marT="0" marB="0" anchor="ctr">
                    <a:solidFill>
                      <a:srgbClr val="F4F7F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497D"/>
                          </a:solidFill>
                          <a:latin typeface="Merriweather Sans"/>
                        </a:rPr>
                        <a:t>3.  API Specification Mgmt</a:t>
                      </a:r>
                    </a:p>
                  </a:txBody>
                  <a:tcPr marL="164592" marR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A857"/>
                          </a:solidFill>
                          <a:latin typeface="Merriweather Sans"/>
                        </a:rPr>
                        <a:t>12</a:t>
                      </a:r>
                    </a:p>
                  </a:txBody>
                  <a:tcPr marL="164592" marR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A857"/>
                          </a:solidFill>
                          <a:latin typeface="Merriweather Sans"/>
                        </a:rPr>
                        <a:t>PASS</a:t>
                      </a:r>
                    </a:p>
                  </a:txBody>
                  <a:tcPr marL="164592" marR="164592" marT="0" marB="0" anchor="ctr">
                    <a:solidFill>
                      <a:srgbClr val="E6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35D6B"/>
                          </a:solidFill>
                          <a:latin typeface="Merriweather Sans"/>
                        </a:rPr>
                        <a:t>Spec upload and validation, AI spec generation, endpoints, dependency graph</a:t>
                      </a:r>
                    </a:p>
                  </a:txBody>
                  <a:tcPr marL="164592" marR="164592" marT="0" marB="0"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497D"/>
                          </a:solidFill>
                          <a:latin typeface="Merriweather Sans"/>
                        </a:rPr>
                        <a:t>4.  Test Suite Management</a:t>
                      </a:r>
                    </a:p>
                  </a:txBody>
                  <a:tcPr marL="164592" marR="164592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7A5CC8"/>
                          </a:solidFill>
                          <a:latin typeface="Merriweather Sans"/>
                        </a:rPr>
                        <a:t>4</a:t>
                      </a:r>
                    </a:p>
                  </a:txBody>
                  <a:tcPr marL="164592" marR="164592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A857"/>
                          </a:solidFill>
                          <a:latin typeface="Merriweather Sans"/>
                        </a:rPr>
                        <a:t>PASS</a:t>
                      </a:r>
                    </a:p>
                  </a:txBody>
                  <a:tcPr marL="164592" marR="164592" marT="0" marB="0" anchor="ctr">
                    <a:solidFill>
                      <a:srgbClr val="E6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35D6B"/>
                          </a:solidFill>
                          <a:latin typeface="Merriweather Sans"/>
                        </a:rPr>
                        <a:t>Run configuration, custom auth headers, endpoint exclusion</a:t>
                      </a:r>
                    </a:p>
                  </a:txBody>
                  <a:tcPr marL="164592" marR="164592" marT="0" marB="0" anchor="ctr">
                    <a:solidFill>
                      <a:srgbClr val="F4F7F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497D"/>
                          </a:solidFill>
                          <a:latin typeface="Merriweather Sans"/>
                        </a:rPr>
                        <a:t>5.  Test Execution</a:t>
                      </a:r>
                    </a:p>
                  </a:txBody>
                  <a:tcPr marL="164592" marR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F6FC6"/>
                          </a:solidFill>
                          <a:latin typeface="Merriweather Sans"/>
                        </a:rPr>
                        <a:t>6</a:t>
                      </a:r>
                    </a:p>
                  </a:txBody>
                  <a:tcPr marL="164592" marR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A857"/>
                          </a:solidFill>
                          <a:latin typeface="Merriweather Sans"/>
                        </a:rPr>
                        <a:t>PASS</a:t>
                      </a:r>
                    </a:p>
                  </a:txBody>
                  <a:tcPr marL="164592" marR="164592" marT="0" marB="0" anchor="ctr">
                    <a:solidFill>
                      <a:srgbClr val="E6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35D6B"/>
                          </a:solidFill>
                          <a:latin typeface="Merriweather Sans"/>
                        </a:rPr>
                        <a:t>One-click async run, duplicate-run guard, re-run, request inspection</a:t>
                      </a:r>
                    </a:p>
                  </a:txBody>
                  <a:tcPr marL="164592" marR="164592" marT="0" marB="0"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497D"/>
                          </a:solidFill>
                          <a:latin typeface="Merriweather Sans"/>
                        </a:rPr>
                        <a:t>6.  Results &amp; Reports</a:t>
                      </a:r>
                    </a:p>
                  </a:txBody>
                  <a:tcPr marL="164592" marR="164592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D96B13"/>
                          </a:solidFill>
                          <a:latin typeface="Merriweather Sans"/>
                        </a:rPr>
                        <a:t>5</a:t>
                      </a:r>
                    </a:p>
                  </a:txBody>
                  <a:tcPr marL="164592" marR="164592" marT="0" marB="0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A857"/>
                          </a:solidFill>
                          <a:latin typeface="Merriweather Sans"/>
                        </a:rPr>
                        <a:t>PASS</a:t>
                      </a:r>
                    </a:p>
                  </a:txBody>
                  <a:tcPr marL="164592" marR="164592" marT="0" marB="0" anchor="ctr">
                    <a:solidFill>
                      <a:srgbClr val="E6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35D6B"/>
                          </a:solidFill>
                          <a:latin typeface="Merriweather Sans"/>
                        </a:rPr>
                        <a:t>Run reports, AI failure explanation, replay, history and comparison</a:t>
                      </a:r>
                    </a:p>
                  </a:txBody>
                  <a:tcPr marL="164592" marR="164592" marT="0" marB="0" anchor="ctr">
                    <a:solidFill>
                      <a:srgbClr val="F4F7F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497D"/>
                          </a:solidFill>
                          <a:latin typeface="Merriweather Sans"/>
                        </a:rPr>
                        <a:t>7.  Team Collaboration</a:t>
                      </a:r>
                    </a:p>
                  </a:txBody>
                  <a:tcPr marL="164592" marR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A857"/>
                          </a:solidFill>
                          <a:latin typeface="Merriweather Sans"/>
                        </a:rPr>
                        <a:t>7</a:t>
                      </a:r>
                    </a:p>
                  </a:txBody>
                  <a:tcPr marL="164592" marR="16459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A857"/>
                          </a:solidFill>
                          <a:latin typeface="Merriweather Sans"/>
                        </a:rPr>
                        <a:t>PASS</a:t>
                      </a:r>
                    </a:p>
                  </a:txBody>
                  <a:tcPr marL="164592" marR="164592" marT="0" marB="0" anchor="ctr">
                    <a:solidFill>
                      <a:srgbClr val="E6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35D6B"/>
                          </a:solidFill>
                          <a:latin typeface="Merriweather Sans"/>
                        </a:rPr>
                        <a:t>Invitations with expiry, viewer / tester / admin role enforcement</a:t>
                      </a:r>
                    </a:p>
                  </a:txBody>
                  <a:tcPr marL="164592" marR="164592" marT="0" marB="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Merriweather Sans"/>
                        </a:rPr>
                        <a:t>Total</a:t>
                      </a:r>
                    </a:p>
                  </a:txBody>
                  <a:tcPr marL="164592" marR="164592" marT="0" marB="0" anchor="ctr">
                    <a:solidFill>
                      <a:srgbClr val="2F6F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Merriweather Sans"/>
                        </a:rPr>
                        <a:t>50</a:t>
                      </a:r>
                    </a:p>
                  </a:txBody>
                  <a:tcPr marL="164592" marR="164592" marT="0" marB="0" anchor="ctr">
                    <a:solidFill>
                      <a:srgbClr val="2F6F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erriweather Sans"/>
                        </a:rPr>
                        <a:t>50 / 50</a:t>
                      </a:r>
                    </a:p>
                  </a:txBody>
                  <a:tcPr marL="164592" marR="164592" marT="0" marB="0" anchor="ctr">
                    <a:solidFill>
                      <a:srgbClr val="1FA8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erriweather Sans"/>
                        </a:rPr>
                        <a:t>0 failures across all seven modules</a:t>
                      </a:r>
                    </a:p>
                  </a:txBody>
                  <a:tcPr marL="164592" marR="164592" marT="0" marB="0" anchor="ctr">
                    <a:solidFill>
                      <a:srgbClr val="2F6FC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" name="Google Shape;96;g3f622ba911e_4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97" name="Google Shape;97;g3f622ba911e_4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g3f622ba911e_4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g3f622ba911e_4_0"/>
          <p:cNvSpPr txBox="1"/>
          <p:nvPr/>
        </p:nvSpPr>
        <p:spPr>
          <a:xfrm>
            <a:off x="594360" y="614800"/>
            <a:ext cx="1554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What the Tests Proved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914400" y="1645920"/>
            <a:ext cx="80467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43000" y="1645920"/>
            <a:ext cx="7589520" cy="54864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88720" y="1965960"/>
            <a:ext cx="640080" cy="640080"/>
          </a:xfrm>
          <a:prstGeom prst="ellipse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88720" y="19659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rriweather Sans"/>
              </a:rP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57400" y="1965960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F497D"/>
                </a:solidFill>
                <a:latin typeface="Merriweather Sans"/>
              </a:rPr>
              <a:t>Input validation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75120" y="205740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2F6FC6"/>
                </a:solidFill>
                <a:latin typeface="Merriweather Sans"/>
              </a:rPr>
              <a:t>TC 2, 3, 6, 18, 31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88720" y="2743200"/>
            <a:ext cx="7498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35D6B"/>
                </a:solidFill>
                <a:latin typeface="Merriweather Sans"/>
              </a:rPr>
              <a:t>Invalid or missing fields are rejected with field-specific messages; no partial records are created.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326880" y="1645920"/>
            <a:ext cx="80467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55480" y="1645920"/>
            <a:ext cx="7589520" cy="54864"/>
          </a:xfrm>
          <a:prstGeom prst="rect">
            <a:avLst/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601200" y="1965960"/>
            <a:ext cx="640080" cy="640080"/>
          </a:xfrm>
          <a:prstGeom prst="ellipse">
            <a:avLst/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601200" y="19659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rriweather Sans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469880" y="1965960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F497D"/>
                </a:solidFill>
                <a:latin typeface="Merriweather Sans"/>
              </a:rPr>
              <a:t>Security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087600" y="205740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D96B13"/>
                </a:solidFill>
                <a:latin typeface="Merriweather Sans"/>
              </a:rPr>
              <a:t>TC 1, 22, 46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01200" y="2743200"/>
            <a:ext cx="7498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35D6B"/>
                </a:solidFill>
                <a:latin typeface="Merriweather Sans"/>
              </a:rPr>
              <a:t>Confirmation codes are stored hashed, with no session before email confirmation. Path-traversal and symlink uploads are refused.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14400" y="4251959"/>
            <a:ext cx="80467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43000" y="4251959"/>
            <a:ext cx="7589520" cy="54864"/>
          </a:xfrm>
          <a:prstGeom prst="rect">
            <a:avLst/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88720" y="4571999"/>
            <a:ext cx="640080" cy="640080"/>
          </a:xfrm>
          <a:prstGeom prst="ellipse">
            <a:avLst/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88720" y="4571999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rriweather Sans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057400" y="4571999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F497D"/>
                </a:solidFill>
                <a:latin typeface="Merriweather Sans"/>
              </a:rPr>
              <a:t>Access control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75120" y="466344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1FA857"/>
                </a:solidFill>
                <a:latin typeface="Merriweather Sans"/>
              </a:rPr>
              <a:t>TC 15, 20, 48, 49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88720" y="5349240"/>
            <a:ext cx="7498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35D6B"/>
                </a:solidFill>
                <a:latin typeface="Merriweather Sans"/>
              </a:rPr>
              <a:t>Viewer, tester and admin boundaries hold; only the owner can delete a project; removed members lose access at once.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326880" y="4251959"/>
            <a:ext cx="80467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555480" y="4251959"/>
            <a:ext cx="7589520" cy="54864"/>
          </a:xfrm>
          <a:prstGeom prst="rect">
            <a:avLst/>
          </a:prstGeom>
          <a:solidFill>
            <a:srgbClr val="7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601200" y="4571999"/>
            <a:ext cx="640080" cy="640080"/>
          </a:xfrm>
          <a:prstGeom prst="ellipse">
            <a:avLst/>
          </a:prstGeom>
          <a:solidFill>
            <a:srgbClr val="7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601200" y="4571999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rriweather Sans"/>
              </a:rPr>
              <a:t>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469880" y="4571999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F497D"/>
                </a:solidFill>
                <a:latin typeface="Merriweather Sans"/>
              </a:rPr>
              <a:t>Robustness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5087600" y="4663440"/>
            <a:ext cx="2103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7A5CC8"/>
                </a:solidFill>
                <a:latin typeface="Merriweather Sans"/>
              </a:rPr>
              <a:t>TC 33, 34, 35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601200" y="5349240"/>
            <a:ext cx="7498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35D6B"/>
                </a:solidFill>
                <a:latin typeface="Merriweather Sans"/>
              </a:rPr>
              <a:t>No run without a specification, duplicate runs refused, asynchronous runs keep the UI responsive.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14400" y="6812280"/>
            <a:ext cx="16459200" cy="2743200"/>
          </a:xfrm>
          <a:prstGeom prst="roundRect">
            <a:avLst>
              <a:gd name="adj" fmla="val 6000"/>
            </a:avLst>
          </a:prstGeom>
          <a:solidFill>
            <a:srgbClr val="E4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88720" y="6949440"/>
            <a:ext cx="8229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497D"/>
                </a:solidFill>
                <a:latin typeface="Merriweather Sans"/>
              </a:rPr>
              <a:t>Worked example  |  TC33 One-Click Test Execution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188720" y="7498079"/>
            <a:ext cx="48463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417320" y="7498079"/>
            <a:ext cx="4389120" cy="54864"/>
          </a:xfrm>
          <a:prstGeom prst="rect">
            <a:avLst/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88720" y="763524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F6FC6"/>
                </a:solidFill>
                <a:latin typeface="Merriweather Sans"/>
              </a:rPr>
              <a:t>STEPS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463040" y="8046720"/>
            <a:ext cx="4297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35D6B"/>
                </a:solidFill>
                <a:latin typeface="Merriweather Sans"/>
              </a:rPr>
              <a:t>Press Run, watch the status without reloading, navigate away and come back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6126479" y="8385048"/>
            <a:ext cx="640081" cy="0"/>
          </a:xfrm>
          <a:prstGeom prst="line">
            <a:avLst/>
          </a:prstGeom>
          <a:ln w="44450">
            <a:solidFill>
              <a:srgbClr val="2F6FC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ounded Rectangle 134"/>
          <p:cNvSpPr/>
          <p:nvPr/>
        </p:nvSpPr>
        <p:spPr>
          <a:xfrm>
            <a:off x="6858000" y="7498079"/>
            <a:ext cx="48463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086600" y="7498079"/>
            <a:ext cx="4389120" cy="54864"/>
          </a:xfrm>
          <a:prstGeom prst="rect">
            <a:avLst/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858000" y="763524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D96B13"/>
                </a:solidFill>
                <a:latin typeface="Merriweather Sans"/>
              </a:rPr>
              <a:t>EXPECTED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132320" y="8046720"/>
            <a:ext cx="4297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35D6B"/>
                </a:solidFill>
                <a:latin typeface="Merriweather Sans"/>
              </a:rPr>
              <a:t>Run returns instantly; status goes pending → running → completed; UI stays usable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11795760" y="8385048"/>
            <a:ext cx="640080" cy="0"/>
          </a:xfrm>
          <a:prstGeom prst="line">
            <a:avLst/>
          </a:prstGeom>
          <a:ln w="44450">
            <a:solidFill>
              <a:srgbClr val="2F6FC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ounded Rectangle 139"/>
          <p:cNvSpPr/>
          <p:nvPr/>
        </p:nvSpPr>
        <p:spPr>
          <a:xfrm>
            <a:off x="12527280" y="7498079"/>
            <a:ext cx="48463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4E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2755880" y="7498079"/>
            <a:ext cx="4389120" cy="54864"/>
          </a:xfrm>
          <a:prstGeom prst="rect">
            <a:avLst/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2527280" y="7635240"/>
            <a:ext cx="4846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A857"/>
                </a:solidFill>
                <a:latin typeface="Merriweather Sans"/>
              </a:rPr>
              <a:t>RESULT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801600" y="8046720"/>
            <a:ext cx="4297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35D6B"/>
                </a:solidFill>
                <a:latin typeface="Merriweather Sans"/>
              </a:rPr>
              <a:t>PASS  –  state is current on return, never stale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6" name="Google Shape;96;g3f622ba911e_4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97" name="Google Shape;97;g3f622ba911e_4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g3f622ba911e_4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g3f622ba911e_4_0"/>
          <p:cNvSpPr txBox="1"/>
          <p:nvPr/>
        </p:nvSpPr>
        <p:spPr>
          <a:xfrm>
            <a:off x="594360" y="614800"/>
            <a:ext cx="1554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Appendix: All 50 Test Cases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914400" y="1627632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4400" y="1627632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45920" y="1600200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User Registration with Valid Details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21040" y="1600200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14400" y="1952243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4400" y="1952243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1924812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User Registration with Invalid or Missing Fields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21040" y="1924812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4400" y="2276856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14400" y="2276856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45920" y="2249424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Registration with an Already Registered Email or Username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21040" y="2249424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14400" y="2601468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4400" y="2601468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645920" y="2574036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Re-registering an Unconfirmed Email Address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21040" y="2574036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14400" y="2926079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14400" y="2926079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645920" y="2898648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Email Confirmation with the Correct Code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21040" y="2898648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4400" y="3250691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4400" y="3250691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45920" y="3223260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Email Confirmation with a Wrong Code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21040" y="3223260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14400" y="3575303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14400" y="3575303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645920" y="3547872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Login with Wrong Password or Unknown Account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21040" y="3547872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14400" y="3899915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14400" y="3899915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45920" y="3872483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Password Reset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3872483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914400" y="4224528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14400" y="4224528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645920" y="4197096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Password Reset for an Unknown Email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321040" y="4197096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14400" y="4549140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14400" y="4549140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10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645920" y="4521708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Update Display Name and Avatar Colour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321040" y="4521708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14400" y="4873752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14400" y="4873752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11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645920" y="4846320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Change Password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321040" y="4846320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14400" y="5198364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14400" y="5198364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645920" y="5170931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Notification Preferences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321040" y="5170931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14400" y="5522976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14400" y="5522976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13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645920" y="5495544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Delete Account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321040" y="5495544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14400" y="5847588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14400" y="5847588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14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645920" y="5820156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Create a Project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21040" y="5820156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14400" y="6172200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14400" y="6172200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15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645920" y="6144768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Project Access Control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21040" y="6144768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14400" y="6496812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14400" y="6496812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16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645920" y="6469379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Delete a Project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321040" y="6469379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914400" y="6821424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14400" y="6821424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17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645920" y="6793992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Upload a Valid OpenAPI 3.0 Specification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321040" y="6793992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14400" y="7146036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14400" y="7146036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18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645920" y="7118604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Upload a Malformed Specification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321040" y="7118604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914400" y="7470648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14400" y="7470648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19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645920" y="7443216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Replace an Existing Specification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321040" y="7443216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914400" y="7795259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14400" y="7795259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20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645920" y="7767827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Specification Permissions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321040" y="7767827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914400" y="8119871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14400" y="8119871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21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645920" y="8092440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Generate a Specification from a Source Archive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321040" y="8092440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914400" y="8444484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14400" y="8444484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22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645920" y="8417052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Reject an Invalid or Unsafe Source Upload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321040" y="8417052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914400" y="8769095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14400" y="8769095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23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645920" y="8741663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Review and Apply a Generated Specification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321040" y="8741663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914400" y="9093707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14400" y="9093707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24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645920" y="9066276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Add an Endpoint Manually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321040" y="9066276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914400" y="9418319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914400" y="9418319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25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645920" y="9390888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Delete an Endpoint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321040" y="9390888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9326880" y="1627632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326880" y="1627632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26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058400" y="1600200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Build the Project Dependency Graph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6733520" y="1600200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326880" y="1952243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326880" y="1952243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27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058400" y="1924812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Inspect One Operation's Dependencies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6733520" y="1924812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9326880" y="2276856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326880" y="2276856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28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0058400" y="2249424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Dependency Graph Attached to a Completed Run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6733520" y="2249424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9326880" y="2601468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7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9326880" y="2601468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29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058400" y="2574036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Configure a Test Run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6733520" y="2574036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326880" y="2926079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7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326880" y="2926079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30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058400" y="2898648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Custom Authentication Headers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6733520" y="2898648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9326880" y="3250691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7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9326880" y="3250691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31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058400" y="3223260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Custom Header Validation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6733520" y="3223260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9326880" y="3575303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7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9326880" y="3575303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32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0058400" y="3547872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Excluding Endpoints from a Run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6733520" y="3547872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9326880" y="3899915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9326880" y="3899915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33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0058400" y="3872483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One-Click Test Execution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6733520" y="3872483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9326880" y="4224528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9326880" y="4224528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34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058400" y="4197096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Running Without a Specification, or While Already Running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6733520" y="4197096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9326880" y="4549140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9326880" y="4549140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35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0058400" y="4521708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Re-running an Existing Run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6733520" y="4521708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9326880" y="4873752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9326880" y="4873752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36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0058400" y="4846320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Per-Endpoint Request Summary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6733520" y="4846320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9326880" y="5198364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9326880" y="5198364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37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058400" y="5170931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Browse and Filter Captured Requests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6733520" y="5170931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9326880" y="5522976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9326880" y="5522976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38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0058400" y="5495544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Inspect a Single Request and Response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6733520" y="5495544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9326880" y="5847588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9326880" y="5847588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39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058400" y="5820156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Explain Requests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6733520" y="5820156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9326880" y="6172200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9326880" y="6172200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40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0058400" y="6144768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View a Run Report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6733520" y="6144768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9326880" y="6496812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9326880" y="6496812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41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058400" y="6469379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Explain Failures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6733520" y="6469379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9326880" y="6821424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9326880" y="6821424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42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0058400" y="6793992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Replay a Completed Run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6733520" y="6793992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9326880" y="7146036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9326880" y="7146036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43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0058400" y="7118604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Run History and Comparison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6733520" y="7118604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9326880" y="7470648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9326880" y="7470648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44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058400" y="7443216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Invite a Collaborator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6733520" y="7443216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9326880" y="7795259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9326880" y="7795259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45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0058400" y="7767827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Accept an Invitation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6733520" y="7767827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9326880" y="8119871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9326880" y="8119871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46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0058400" y="8092440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Invitation Security and Expiry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6733520" y="8092440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9326880" y="8444484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9326880" y="8444484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47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0058400" y="8417052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Resend, Revoke and Decline an Invitation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6733520" y="8417052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9326880" y="8769095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9326880" y="8769095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48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0058400" y="8741663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Role Enforcement: Viewer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6733520" y="8741663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9326880" y="9093707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9326880" y="9093707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49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0058400" y="9066276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Role Enforcement: Tester and Administrator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6733520" y="9066276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9326880" y="9418319"/>
            <a:ext cx="566928" cy="269748"/>
          </a:xfrm>
          <a:prstGeom prst="roundRect">
            <a:avLst>
              <a:gd name="adj" fmla="val 3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9326880" y="9418319"/>
            <a:ext cx="566928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rriweather Sans"/>
              </a:rPr>
              <a:t>50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058400" y="9390888"/>
            <a:ext cx="65836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35D6B"/>
                </a:solidFill>
                <a:latin typeface="Merriweather Sans"/>
              </a:rPr>
              <a:t>Manage Members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6733520" y="9390888"/>
            <a:ext cx="640080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A857"/>
                </a:solidFill>
                <a:latin typeface="Merriweather Sans"/>
              </a:rPr>
              <a:t>Pass</a:t>
            </a:r>
          </a:p>
        </p:txBody>
      </p:sp>
      <p:sp>
        <p:nvSpPr>
          <p:cNvPr id="300" name="Rounded Rectangle 299"/>
          <p:cNvSpPr/>
          <p:nvPr/>
        </p:nvSpPr>
        <p:spPr>
          <a:xfrm>
            <a:off x="914400" y="9962388"/>
            <a:ext cx="274320" cy="182880"/>
          </a:xfrm>
          <a:prstGeom prst="roundRect">
            <a:avLst>
              <a:gd name="adj" fmla="val 5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280160" y="9898380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Authentication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3291840" y="9962388"/>
            <a:ext cx="274320" cy="182880"/>
          </a:xfrm>
          <a:prstGeom prst="roundRect">
            <a:avLst>
              <a:gd name="adj" fmla="val 50000"/>
            </a:avLst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3657600" y="9898380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Project Management</a:t>
            </a:r>
          </a:p>
        </p:txBody>
      </p:sp>
      <p:sp>
        <p:nvSpPr>
          <p:cNvPr id="304" name="Rounded Rectangle 303"/>
          <p:cNvSpPr/>
          <p:nvPr/>
        </p:nvSpPr>
        <p:spPr>
          <a:xfrm>
            <a:off x="5669280" y="9962388"/>
            <a:ext cx="274320" cy="182880"/>
          </a:xfrm>
          <a:prstGeom prst="roundRect">
            <a:avLst>
              <a:gd name="adj" fmla="val 5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6035040" y="9898380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API Specification Mgmt</a:t>
            </a:r>
          </a:p>
        </p:txBody>
      </p:sp>
      <p:sp>
        <p:nvSpPr>
          <p:cNvPr id="306" name="Rounded Rectangle 305"/>
          <p:cNvSpPr/>
          <p:nvPr/>
        </p:nvSpPr>
        <p:spPr>
          <a:xfrm>
            <a:off x="8046720" y="9962388"/>
            <a:ext cx="274320" cy="182880"/>
          </a:xfrm>
          <a:prstGeom prst="roundRect">
            <a:avLst>
              <a:gd name="adj" fmla="val 50000"/>
            </a:avLst>
          </a:prstGeom>
          <a:solidFill>
            <a:srgbClr val="7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8412480" y="9898380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Test Suite Management</a:t>
            </a:r>
          </a:p>
        </p:txBody>
      </p:sp>
      <p:sp>
        <p:nvSpPr>
          <p:cNvPr id="308" name="Rounded Rectangle 307"/>
          <p:cNvSpPr/>
          <p:nvPr/>
        </p:nvSpPr>
        <p:spPr>
          <a:xfrm>
            <a:off x="10424160" y="9962388"/>
            <a:ext cx="274320" cy="182880"/>
          </a:xfrm>
          <a:prstGeom prst="roundRect">
            <a:avLst>
              <a:gd name="adj" fmla="val 50000"/>
            </a:avLst>
          </a:prstGeom>
          <a:solidFill>
            <a:srgbClr val="2F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10789920" y="9898380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Test Execution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12801600" y="9962388"/>
            <a:ext cx="274320" cy="182880"/>
          </a:xfrm>
          <a:prstGeom prst="roundRect">
            <a:avLst>
              <a:gd name="adj" fmla="val 50000"/>
            </a:avLst>
          </a:prstGeom>
          <a:solidFill>
            <a:srgbClr val="D96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13167360" y="9898380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Results &amp; Reports</a:t>
            </a:r>
          </a:p>
        </p:txBody>
      </p:sp>
      <p:sp>
        <p:nvSpPr>
          <p:cNvPr id="312" name="Rounded Rectangle 311"/>
          <p:cNvSpPr/>
          <p:nvPr/>
        </p:nvSpPr>
        <p:spPr>
          <a:xfrm>
            <a:off x="15179040" y="9962388"/>
            <a:ext cx="274320" cy="182880"/>
          </a:xfrm>
          <a:prstGeom prst="roundRect">
            <a:avLst>
              <a:gd name="adj" fmla="val 50000"/>
            </a:avLst>
          </a:prstGeom>
          <a:solidFill>
            <a:srgbClr val="1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15544800" y="9898380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35D6B"/>
                </a:solidFill>
                <a:latin typeface="Merriweather Sans"/>
              </a:rPr>
              <a:t>Team Collaboration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